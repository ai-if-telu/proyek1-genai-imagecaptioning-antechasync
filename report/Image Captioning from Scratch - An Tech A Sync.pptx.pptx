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BM Plex Sans Bold" charset="1" panose="020B0803050203000203"/>
      <p:regular r:id="rId20"/>
    </p:embeddedFont>
    <p:embeddedFont>
      <p:font typeface="Rubik Bold" charset="1" panose="00000800000000000000"/>
      <p:regular r:id="rId21"/>
    </p:embeddedFont>
    <p:embeddedFont>
      <p:font typeface="IBM Plex Sans" charset="1" panose="020B0503050203000203"/>
      <p:regular r:id="rId22"/>
    </p:embeddedFont>
    <p:embeddedFont>
      <p:font typeface="IBM Plex Sans Italics" charset="1" panose="020B05030502030002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Pembuka oleh ketua (Mazmur Bryan). Perkenalkan kelompok dan satu kalimat inti: kami membangun model yang menulis caption untuk foto, seluruhnya dari nol tanpa model pretrained, dengan bantuan LLM (vibe coding).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Ketua. Jelaskan apa itu image captioning dengan contoh sederhana. Tekankan aturan from scratch: encoder CNN dan LSTM ditulis sendiri dari lapisan dasar PyTorch (Conv2d, Linear), bobot mulai dari acak.</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Ketua. Jelaskan alur kerja dan kenapa kontrak shape penting: tanpa kesepakatan ukuran, modul tiap anggota tidak akan cocok saat digabung. LLM yang dipakai: Claude (Anggota 1) dan Codex (Anggota 2-3).</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Ketua. Encoder: 5 blok Conv 3x3, BatchNorm, ReLU, MaxPool, channel 32 sampai 256, lalu Global Average Pooling. Kenapa GAP: 256 angka, bukan 4096, sehingga lebih hemat dan tidak mudah overfit. bias=False karena BatchNorm sudah punya penggeser sendiri. Total 4,87 juta parameter.</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Pembicara: Anggota 2 (atau Zaidan sebagai pembuat pipeline). Jelaskan kenapa split per gambar, kenapa vocab hanya dari train, dan token khusus pad=0, start=1, end=2, unk=3.</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Ketua. Encoder: 5 blok Conv 3x3, BatchNorm, ReLU, MaxPool, channel 32 sampai 256, lalu Global Average Pooling. Kenapa GAP: 256 angka, bukan 4096, sehingga lebih hemat dan tidak mudah overfit. bias=False karena BatchNorm sudah punya penggeser sendiri. Total 4,87 juta parameter.</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Pembicara: Zaidan (Anggota 3). Jelaskan pengaturan training dan cara membaca grafik: kedua loss turun, jarak train-val melebar pelan setelah epoch 7 tanda overfitting ringan. Uji hafalan membuktikan seluruh aliran data dan gradien tersambung sebelum training besar.</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Pembicara: Zaidan (Anggota 3). Akurasi biasa tidak cocok untuk kalimat, jadi dipakai BLEU (kecocokan rangkaian kata), METEOR, dan CIDEr (kemiripan dengan 5 caption manusia). Angka ini wajar untuk model dari nol; model pretrained dengan attention biasanya BLEU-4 sekitar 0,2.</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Pembicara: ketua (backup tuning). Satu percobaan mengubah satu pengaturan, dipilih dari pola grafik exp01. Model final dipilih dari validation loss (exp01) agar tidak menyontek data uji. Replikasi di Colab menghasilkan pola yang sama. Error RAM (Windows 1455) diatasi dengan resume dari checkpoint.</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Ketua. Tunjukkan contoh yang berhasil dan yang gagal secara jujur, lalu demo aplikasi Streamlit (streamlit run app.py): upload satu foto dan biarkan model menulis caption-nya.</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Buka aplikasi web dan minta audiens memberi foto. Siapkan cadangan beberapa foto (anjing, pantai, orang berolahraga) kalau koneksi atau upload bermasalah. Lalu buka sesi tanya jawab; setiap anggota menjawab tentang bagiannya.</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219200" y="2322195"/>
            <a:ext cx="16325088" cy="459105"/>
          </a:xfrm>
          <a:prstGeom prst="rect">
            <a:avLst/>
          </a:prstGeom>
        </p:spPr>
        <p:txBody>
          <a:bodyPr anchor="t" rtlCol="false" tIns="0" lIns="0" bIns="0" rIns="0">
            <a:spAutoFit/>
          </a:bodyPr>
          <a:lstStyle/>
          <a:p>
            <a:pPr algn="l">
              <a:lnSpc>
                <a:spcPts val="2940"/>
              </a:lnSpc>
            </a:pPr>
            <a:r>
              <a:rPr lang="en-US" b="true" sz="2100" spc="299">
                <a:solidFill>
                  <a:srgbClr val="E8833A"/>
                </a:solidFill>
                <a:latin typeface="IBM Plex Sans Bold"/>
                <a:ea typeface="IBM Plex Sans Bold"/>
                <a:cs typeface="IBM Plex Sans Bold"/>
                <a:sym typeface="IBM Plex Sans Bold"/>
              </a:rPr>
              <a:t>PROYEK 1 · GENERATIVE AI CAK4KBB3</a:t>
            </a:r>
          </a:p>
        </p:txBody>
      </p:sp>
      <p:sp>
        <p:nvSpPr>
          <p:cNvPr name="TextBox 3" id="3"/>
          <p:cNvSpPr txBox="true"/>
          <p:nvPr/>
        </p:nvSpPr>
        <p:spPr>
          <a:xfrm rot="0">
            <a:off x="1219200" y="3248025"/>
            <a:ext cx="16325088" cy="2314575"/>
          </a:xfrm>
          <a:prstGeom prst="rect">
            <a:avLst/>
          </a:prstGeom>
        </p:spPr>
        <p:txBody>
          <a:bodyPr anchor="t" rtlCol="false" tIns="0" lIns="0" bIns="0" rIns="0">
            <a:spAutoFit/>
          </a:bodyPr>
          <a:lstStyle/>
          <a:p>
            <a:pPr algn="l">
              <a:lnSpc>
                <a:spcPts val="9450"/>
              </a:lnSpc>
            </a:pPr>
            <a:r>
              <a:rPr lang="en-US" sz="9000" b="true">
                <a:solidFill>
                  <a:srgbClr val="F6F4EE"/>
                </a:solidFill>
                <a:latin typeface="Rubik Bold"/>
                <a:ea typeface="Rubik Bold"/>
                <a:cs typeface="Rubik Bold"/>
                <a:sym typeface="Rubik Bold"/>
              </a:rPr>
              <a:t>Image Captioning</a:t>
            </a:r>
          </a:p>
          <a:p>
            <a:pPr algn="l">
              <a:lnSpc>
                <a:spcPts val="9450"/>
              </a:lnSpc>
            </a:pPr>
            <a:r>
              <a:rPr lang="en-US" sz="9000" b="true">
                <a:solidFill>
                  <a:srgbClr val="F6F4EE"/>
                </a:solidFill>
                <a:latin typeface="Rubik Bold"/>
                <a:ea typeface="Rubik Bold"/>
                <a:cs typeface="Rubik Bold"/>
                <a:sym typeface="Rubik Bold"/>
              </a:rPr>
              <a:t>from Scratch</a:t>
            </a:r>
          </a:p>
        </p:txBody>
      </p:sp>
      <p:sp>
        <p:nvSpPr>
          <p:cNvPr name="TextBox 4" id="4"/>
          <p:cNvSpPr txBox="true"/>
          <p:nvPr/>
        </p:nvSpPr>
        <p:spPr>
          <a:xfrm rot="0">
            <a:off x="1219200" y="5867400"/>
            <a:ext cx="12753975" cy="1009650"/>
          </a:xfrm>
          <a:prstGeom prst="rect">
            <a:avLst/>
          </a:prstGeom>
        </p:spPr>
        <p:txBody>
          <a:bodyPr anchor="t" rtlCol="false" tIns="0" lIns="0" bIns="0" rIns="0">
            <a:spAutoFit/>
          </a:bodyPr>
          <a:lstStyle/>
          <a:p>
            <a:pPr algn="l">
              <a:lnSpc>
                <a:spcPts val="4050"/>
              </a:lnSpc>
            </a:pPr>
            <a:r>
              <a:rPr lang="en-US" sz="3000">
                <a:solidFill>
                  <a:srgbClr val="C9D3E3"/>
                </a:solidFill>
                <a:latin typeface="IBM Plex Sans"/>
                <a:ea typeface="IBM Plex Sans"/>
                <a:cs typeface="IBM Plex Sans"/>
                <a:sym typeface="IBM Plex Sans"/>
              </a:rPr>
              <a:t>Foto masuk, kalimat keluar: CNN + LSTM manual yang dibangun dan dilatih dari nol dengan vibe coding</a:t>
            </a:r>
          </a:p>
        </p:txBody>
      </p:sp>
      <p:grpSp>
        <p:nvGrpSpPr>
          <p:cNvPr name="Group 5" id="5"/>
          <p:cNvGrpSpPr/>
          <p:nvPr/>
        </p:nvGrpSpPr>
        <p:grpSpPr>
          <a:xfrm rot="0">
            <a:off x="1219200" y="7315200"/>
            <a:ext cx="3741420" cy="601980"/>
            <a:chOff x="0" y="0"/>
            <a:chExt cx="4988560" cy="802640"/>
          </a:xfrm>
        </p:grpSpPr>
        <p:sp>
          <p:nvSpPr>
            <p:cNvPr name="Freeform 6" id="6"/>
            <p:cNvSpPr/>
            <p:nvPr/>
          </p:nvSpPr>
          <p:spPr>
            <a:xfrm flipH="false" flipV="false" rot="0">
              <a:off x="0" y="0"/>
              <a:ext cx="4988560" cy="802640"/>
            </a:xfrm>
            <a:custGeom>
              <a:avLst/>
              <a:gdLst/>
              <a:ahLst/>
              <a:cxnLst/>
              <a:rect r="r" b="b" t="t" l="l"/>
              <a:pathLst>
                <a:path h="802640" w="4988560">
                  <a:moveTo>
                    <a:pt x="0" y="401320"/>
                  </a:moveTo>
                  <a:cubicBezTo>
                    <a:pt x="0" y="179705"/>
                    <a:pt x="179705" y="0"/>
                    <a:pt x="401320" y="0"/>
                  </a:cubicBezTo>
                  <a:lnTo>
                    <a:pt x="4587240" y="0"/>
                  </a:lnTo>
                  <a:cubicBezTo>
                    <a:pt x="4808855" y="0"/>
                    <a:pt x="4988560" y="179705"/>
                    <a:pt x="4988560" y="401320"/>
                  </a:cubicBezTo>
                  <a:cubicBezTo>
                    <a:pt x="4988560" y="622935"/>
                    <a:pt x="4808855" y="802640"/>
                    <a:pt x="4587240" y="802640"/>
                  </a:cubicBezTo>
                  <a:lnTo>
                    <a:pt x="401320" y="802640"/>
                  </a:lnTo>
                  <a:cubicBezTo>
                    <a:pt x="179705" y="802640"/>
                    <a:pt x="0" y="622935"/>
                    <a:pt x="0" y="401320"/>
                  </a:cubicBezTo>
                  <a:close/>
                </a:path>
              </a:pathLst>
            </a:custGeom>
            <a:solidFill>
              <a:srgbClr val="E8833A"/>
            </a:solidFill>
          </p:spPr>
        </p:sp>
        <p:sp>
          <p:nvSpPr>
            <p:cNvPr name="TextBox 7" id="7"/>
            <p:cNvSpPr txBox="true"/>
            <p:nvPr/>
          </p:nvSpPr>
          <p:spPr>
            <a:xfrm>
              <a:off x="0" y="-47625"/>
              <a:ext cx="4988560" cy="850265"/>
            </a:xfrm>
            <a:prstGeom prst="rect">
              <a:avLst/>
            </a:prstGeom>
          </p:spPr>
          <p:txBody>
            <a:bodyPr anchor="ctr" rtlCol="false" tIns="50800" lIns="50800" bIns="50800" rIns="50800"/>
            <a:lstStyle/>
            <a:p>
              <a:pPr algn="ctr">
                <a:lnSpc>
                  <a:spcPts val="2940"/>
                </a:lnSpc>
              </a:pPr>
              <a:r>
                <a:rPr lang="en-US" sz="2100" b="true">
                  <a:solidFill>
                    <a:srgbClr val="14213D"/>
                  </a:solidFill>
                  <a:latin typeface="IBM Plex Sans Bold"/>
                  <a:ea typeface="IBM Plex Sans Bold"/>
                  <a:cs typeface="IBM Plex Sans Bold"/>
                  <a:sym typeface="IBM Plex Sans Bold"/>
                </a:rPr>
                <a:t>Kelompok An Tech A Sync</a:t>
              </a:r>
            </a:p>
          </p:txBody>
        </p:sp>
      </p:grpSp>
      <p:sp>
        <p:nvSpPr>
          <p:cNvPr name="TextBox 8" id="8"/>
          <p:cNvSpPr txBox="true"/>
          <p:nvPr/>
        </p:nvSpPr>
        <p:spPr>
          <a:xfrm rot="0">
            <a:off x="5189220" y="7381875"/>
            <a:ext cx="11045952" cy="365760"/>
          </a:xfrm>
          <a:prstGeom prst="rect">
            <a:avLst/>
          </a:prstGeom>
        </p:spPr>
        <p:txBody>
          <a:bodyPr anchor="t" rtlCol="false" tIns="0" lIns="0" bIns="0" rIns="0">
            <a:spAutoFit/>
          </a:bodyPr>
          <a:lstStyle/>
          <a:p>
            <a:pPr algn="l">
              <a:lnSpc>
                <a:spcPts val="2940"/>
              </a:lnSpc>
            </a:pPr>
            <a:r>
              <a:rPr lang="en-US" sz="2100">
                <a:solidFill>
                  <a:srgbClr val="C9D3E3"/>
                </a:solidFill>
                <a:latin typeface="IBM Plex Sans"/>
                <a:ea typeface="IBM Plex Sans"/>
                <a:cs typeface="IBM Plex Sans"/>
                <a:sym typeface="IBM Plex Sans"/>
              </a:rPr>
              <a:t>Mazmur Bryan, M. Ahsan Raziq S., Zaidan Daffa Abdillah, Muhammad Mulnawarman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Masalah dan tujuan</a:t>
            </a:r>
          </a:p>
        </p:txBody>
      </p:sp>
      <p:grpSp>
        <p:nvGrpSpPr>
          <p:cNvPr name="Group 3" id="3"/>
          <p:cNvGrpSpPr/>
          <p:nvPr/>
        </p:nvGrpSpPr>
        <p:grpSpPr>
          <a:xfrm rot="0">
            <a:off x="1219200" y="2541270"/>
            <a:ext cx="7734300" cy="3406140"/>
            <a:chOff x="0" y="0"/>
            <a:chExt cx="10312400" cy="4541520"/>
          </a:xfrm>
        </p:grpSpPr>
        <p:sp>
          <p:nvSpPr>
            <p:cNvPr name="Freeform 4" id="4"/>
            <p:cNvSpPr/>
            <p:nvPr/>
          </p:nvSpPr>
          <p:spPr>
            <a:xfrm flipH="false" flipV="false" rot="0">
              <a:off x="0" y="0"/>
              <a:ext cx="10312400" cy="4541520"/>
            </a:xfrm>
            <a:custGeom>
              <a:avLst/>
              <a:gdLst/>
              <a:ahLst/>
              <a:cxnLst/>
              <a:rect r="r" b="b" t="t" l="l"/>
              <a:pathLst>
                <a:path h="4541520" w="10312400">
                  <a:moveTo>
                    <a:pt x="0" y="242697"/>
                  </a:moveTo>
                  <a:cubicBezTo>
                    <a:pt x="0" y="108585"/>
                    <a:pt x="108585" y="0"/>
                    <a:pt x="242697" y="0"/>
                  </a:cubicBezTo>
                  <a:lnTo>
                    <a:pt x="10069703" y="0"/>
                  </a:lnTo>
                  <a:cubicBezTo>
                    <a:pt x="10203815" y="0"/>
                    <a:pt x="10312400" y="108585"/>
                    <a:pt x="10312400" y="242697"/>
                  </a:cubicBezTo>
                  <a:lnTo>
                    <a:pt x="10312400" y="4298823"/>
                  </a:lnTo>
                  <a:cubicBezTo>
                    <a:pt x="10312400" y="4432808"/>
                    <a:pt x="10203815" y="4541520"/>
                    <a:pt x="10069703" y="4541520"/>
                  </a:cubicBezTo>
                  <a:lnTo>
                    <a:pt x="242697" y="4541520"/>
                  </a:lnTo>
                  <a:cubicBezTo>
                    <a:pt x="108585" y="4541520"/>
                    <a:pt x="0" y="4432935"/>
                    <a:pt x="0" y="4298823"/>
                  </a:cubicBezTo>
                  <a:close/>
                </a:path>
              </a:pathLst>
            </a:custGeom>
            <a:solidFill>
              <a:srgbClr val="FFFDF8"/>
            </a:solidFill>
            <a:ln w="19050" cap="sq">
              <a:solidFill>
                <a:srgbClr val="E3DED2"/>
              </a:solidFill>
              <a:prstDash val="solid"/>
              <a:miter/>
            </a:ln>
          </p:spPr>
        </p:sp>
      </p:grpSp>
      <p:sp>
        <p:nvSpPr>
          <p:cNvPr name="TextBox 5" id="5"/>
          <p:cNvSpPr txBox="true"/>
          <p:nvPr/>
        </p:nvSpPr>
        <p:spPr>
          <a:xfrm rot="0">
            <a:off x="1691640" y="3004185"/>
            <a:ext cx="6993103" cy="550545"/>
          </a:xfrm>
          <a:prstGeom prst="rect">
            <a:avLst/>
          </a:prstGeom>
        </p:spPr>
        <p:txBody>
          <a:bodyPr anchor="t" rtlCol="false" tIns="0" lIns="0" bIns="0" rIns="0">
            <a:spAutoFit/>
          </a:bodyPr>
          <a:lstStyle/>
          <a:p>
            <a:pPr algn="l">
              <a:lnSpc>
                <a:spcPts val="3960"/>
              </a:lnSpc>
            </a:pPr>
            <a:r>
              <a:rPr lang="en-US" sz="3300" b="true">
                <a:solidFill>
                  <a:srgbClr val="14213D"/>
                </a:solidFill>
                <a:latin typeface="Rubik Bold"/>
                <a:ea typeface="Rubik Bold"/>
                <a:cs typeface="Rubik Bold"/>
                <a:sym typeface="Rubik Bold"/>
              </a:rPr>
              <a:t>Image captioning</a:t>
            </a:r>
          </a:p>
        </p:txBody>
      </p:sp>
      <p:sp>
        <p:nvSpPr>
          <p:cNvPr name="TextBox 6" id="6"/>
          <p:cNvSpPr txBox="true"/>
          <p:nvPr/>
        </p:nvSpPr>
        <p:spPr>
          <a:xfrm rot="0">
            <a:off x="1691640" y="3649980"/>
            <a:ext cx="6993103" cy="1733550"/>
          </a:xfrm>
          <a:prstGeom prst="rect">
            <a:avLst/>
          </a:prstGeom>
        </p:spPr>
        <p:txBody>
          <a:bodyPr anchor="t" rtlCol="false" tIns="0" lIns="0" bIns="0" rIns="0">
            <a:spAutoFit/>
          </a:bodyPr>
          <a:lstStyle/>
          <a:p>
            <a:pPr algn="l">
              <a:lnSpc>
                <a:spcPts val="3479"/>
              </a:lnSpc>
            </a:pPr>
            <a:r>
              <a:rPr lang="en-US" sz="2400">
                <a:solidFill>
                  <a:srgbClr val="3D4A5C"/>
                </a:solidFill>
                <a:latin typeface="IBM Plex Sans"/>
                <a:ea typeface="IBM Plex Sans"/>
                <a:cs typeface="IBM Plex Sans"/>
                <a:sym typeface="IBM Plex Sans"/>
              </a:rPr>
              <a:t>Model melihat sebuah foto lalu </a:t>
            </a:r>
            <a:r>
              <a:rPr lang="en-US" sz="2400" b="true">
                <a:solidFill>
                  <a:srgbClr val="3D4A5C"/>
                </a:solidFill>
                <a:latin typeface="IBM Plex Sans Bold"/>
                <a:ea typeface="IBM Plex Sans Bold"/>
                <a:cs typeface="IBM Plex Sans Bold"/>
                <a:sym typeface="IBM Plex Sans Bold"/>
              </a:rPr>
              <a:t>menulis satu kalimat deskripsi</a:t>
            </a:r>
            <a:r>
              <a:rPr lang="en-US" sz="2400">
                <a:solidFill>
                  <a:srgbClr val="3D4A5C"/>
                </a:solidFill>
                <a:latin typeface="IBM Plex Sans"/>
                <a:ea typeface="IBM Plex Sans"/>
                <a:cs typeface="IBM Plex Sans"/>
                <a:sym typeface="IBM Plex Sans"/>
              </a:rPr>
              <a:t>. Tugas multimodal: </a:t>
            </a:r>
            <a:r>
              <a:rPr lang="en-US" sz="2400" b="true">
                <a:solidFill>
                  <a:srgbClr val="3D4A5C"/>
                </a:solidFill>
                <a:latin typeface="IBM Plex Sans Bold"/>
                <a:ea typeface="IBM Plex Sans Bold"/>
                <a:cs typeface="IBM Plex Sans Bold"/>
                <a:sym typeface="IBM Plex Sans Bold"/>
              </a:rPr>
              <a:t>computer vision</a:t>
            </a:r>
            <a:r>
              <a:rPr lang="en-US" sz="2400">
                <a:solidFill>
                  <a:srgbClr val="3D4A5C"/>
                </a:solidFill>
                <a:latin typeface="IBM Plex Sans"/>
                <a:ea typeface="IBM Plex Sans"/>
                <a:cs typeface="IBM Plex Sans"/>
                <a:sym typeface="IBM Plex Sans"/>
              </a:rPr>
              <a:t> untuk memahami gambar dan </a:t>
            </a:r>
            <a:r>
              <a:rPr lang="en-US" sz="2400" b="true">
                <a:solidFill>
                  <a:srgbClr val="3D4A5C"/>
                </a:solidFill>
                <a:latin typeface="IBM Plex Sans Bold"/>
                <a:ea typeface="IBM Plex Sans Bold"/>
                <a:cs typeface="IBM Plex Sans Bold"/>
                <a:sym typeface="IBM Plex Sans Bold"/>
              </a:rPr>
              <a:t>NLP</a:t>
            </a:r>
            <a:r>
              <a:rPr lang="en-US" sz="2400">
                <a:solidFill>
                  <a:srgbClr val="3D4A5C"/>
                </a:solidFill>
                <a:latin typeface="IBM Plex Sans"/>
                <a:ea typeface="IBM Plex Sans"/>
                <a:cs typeface="IBM Plex Sans"/>
                <a:sym typeface="IBM Plex Sans"/>
              </a:rPr>
              <a:t> untuk menyusun kalimat.</a:t>
            </a:r>
          </a:p>
        </p:txBody>
      </p:sp>
      <p:grpSp>
        <p:nvGrpSpPr>
          <p:cNvPr name="Group 7" id="7"/>
          <p:cNvGrpSpPr/>
          <p:nvPr/>
        </p:nvGrpSpPr>
        <p:grpSpPr>
          <a:xfrm rot="0">
            <a:off x="9334500" y="2541270"/>
            <a:ext cx="7734300" cy="3406140"/>
            <a:chOff x="0" y="0"/>
            <a:chExt cx="10312400" cy="4541520"/>
          </a:xfrm>
        </p:grpSpPr>
        <p:sp>
          <p:nvSpPr>
            <p:cNvPr name="Freeform 8" id="8"/>
            <p:cNvSpPr/>
            <p:nvPr/>
          </p:nvSpPr>
          <p:spPr>
            <a:xfrm flipH="false" flipV="false" rot="0">
              <a:off x="0" y="0"/>
              <a:ext cx="10312400" cy="4541520"/>
            </a:xfrm>
            <a:custGeom>
              <a:avLst/>
              <a:gdLst/>
              <a:ahLst/>
              <a:cxnLst/>
              <a:rect r="r" b="b" t="t" l="l"/>
              <a:pathLst>
                <a:path h="4541520" w="10312400">
                  <a:moveTo>
                    <a:pt x="0" y="242697"/>
                  </a:moveTo>
                  <a:cubicBezTo>
                    <a:pt x="0" y="108585"/>
                    <a:pt x="108585" y="0"/>
                    <a:pt x="242697" y="0"/>
                  </a:cubicBezTo>
                  <a:lnTo>
                    <a:pt x="10069703" y="0"/>
                  </a:lnTo>
                  <a:cubicBezTo>
                    <a:pt x="10203815" y="0"/>
                    <a:pt x="10312400" y="108585"/>
                    <a:pt x="10312400" y="242697"/>
                  </a:cubicBezTo>
                  <a:lnTo>
                    <a:pt x="10312400" y="4298823"/>
                  </a:lnTo>
                  <a:cubicBezTo>
                    <a:pt x="10312400" y="4432808"/>
                    <a:pt x="10203815" y="4541520"/>
                    <a:pt x="10069703" y="4541520"/>
                  </a:cubicBezTo>
                  <a:lnTo>
                    <a:pt x="242697" y="4541520"/>
                  </a:lnTo>
                  <a:cubicBezTo>
                    <a:pt x="108585" y="4541520"/>
                    <a:pt x="0" y="4432935"/>
                    <a:pt x="0" y="4298823"/>
                  </a:cubicBezTo>
                  <a:close/>
                </a:path>
              </a:pathLst>
            </a:custGeom>
            <a:solidFill>
              <a:srgbClr val="FFFDF8"/>
            </a:solidFill>
            <a:ln w="19050" cap="sq">
              <a:solidFill>
                <a:srgbClr val="E3DED2"/>
              </a:solidFill>
              <a:prstDash val="solid"/>
              <a:miter/>
            </a:ln>
          </p:spPr>
        </p:sp>
      </p:grpSp>
      <p:sp>
        <p:nvSpPr>
          <p:cNvPr name="TextBox 9" id="9"/>
          <p:cNvSpPr txBox="true"/>
          <p:nvPr/>
        </p:nvSpPr>
        <p:spPr>
          <a:xfrm rot="0">
            <a:off x="9806940" y="3004185"/>
            <a:ext cx="6993103" cy="550545"/>
          </a:xfrm>
          <a:prstGeom prst="rect">
            <a:avLst/>
          </a:prstGeom>
        </p:spPr>
        <p:txBody>
          <a:bodyPr anchor="t" rtlCol="false" tIns="0" lIns="0" bIns="0" rIns="0">
            <a:spAutoFit/>
          </a:bodyPr>
          <a:lstStyle/>
          <a:p>
            <a:pPr algn="l">
              <a:lnSpc>
                <a:spcPts val="3960"/>
              </a:lnSpc>
            </a:pPr>
            <a:r>
              <a:rPr lang="en-US" sz="3300" b="true">
                <a:solidFill>
                  <a:srgbClr val="14213D"/>
                </a:solidFill>
                <a:latin typeface="Rubik Bold"/>
                <a:ea typeface="Rubik Bold"/>
                <a:cs typeface="Rubik Bold"/>
                <a:sym typeface="Rubik Bold"/>
              </a:rPr>
              <a:t>Tujuan</a:t>
            </a:r>
          </a:p>
        </p:txBody>
      </p:sp>
      <p:sp>
        <p:nvSpPr>
          <p:cNvPr name="TextBox 10" id="10"/>
          <p:cNvSpPr txBox="true"/>
          <p:nvPr/>
        </p:nvSpPr>
        <p:spPr>
          <a:xfrm rot="0">
            <a:off x="9893427" y="3649980"/>
            <a:ext cx="6895186" cy="1863090"/>
          </a:xfrm>
          <a:prstGeom prst="rect">
            <a:avLst/>
          </a:prstGeom>
        </p:spPr>
        <p:txBody>
          <a:bodyPr anchor="t" rtlCol="false" tIns="0" lIns="0" bIns="0" rIns="0">
            <a:spAutoFit/>
          </a:bodyPr>
          <a:lstStyle/>
          <a:p>
            <a:pPr algn="l" marL="434340" indent="-217170" lvl="1">
              <a:lnSpc>
                <a:spcPts val="3479"/>
              </a:lnSpc>
              <a:buFont typeface="Arial"/>
              <a:buChar char="•"/>
            </a:pPr>
            <a:r>
              <a:rPr lang="en-US" sz="2400">
                <a:solidFill>
                  <a:srgbClr val="3D4A5C"/>
                </a:solidFill>
                <a:latin typeface="IBM Plex Sans"/>
                <a:ea typeface="IBM Plex Sans"/>
                <a:cs typeface="IBM Plex Sans"/>
                <a:sym typeface="IBM Plex Sans"/>
              </a:rPr>
              <a:t>Membangun model dari nol, bobot dimulai acak</a:t>
            </a:r>
          </a:p>
          <a:p>
            <a:pPr algn="l" marL="434340" indent="-217170" lvl="1">
              <a:lnSpc>
                <a:spcPts val="3479"/>
              </a:lnSpc>
              <a:buFont typeface="Arial"/>
              <a:buChar char="•"/>
            </a:pPr>
            <a:r>
              <a:rPr lang="en-US" sz="2400">
                <a:solidFill>
                  <a:srgbClr val="3D4A5C"/>
                </a:solidFill>
                <a:latin typeface="IBM Plex Sans"/>
                <a:ea typeface="IBM Plex Sans"/>
                <a:cs typeface="IBM Plex Sans"/>
                <a:sym typeface="IBM Plex Sans"/>
              </a:rPr>
              <a:t>Mengarahkan LLM lewat vibe coding</a:t>
            </a:r>
          </a:p>
          <a:p>
            <a:pPr algn="l" marL="434340" indent="-217170" lvl="1">
              <a:lnSpc>
                <a:spcPts val="3479"/>
              </a:lnSpc>
              <a:buFont typeface="Arial"/>
              <a:buChar char="•"/>
            </a:pPr>
            <a:r>
              <a:rPr lang="en-US" sz="2400">
                <a:solidFill>
                  <a:srgbClr val="3D4A5C"/>
                </a:solidFill>
                <a:latin typeface="IBM Plex Sans"/>
                <a:ea typeface="IBM Plex Sans"/>
                <a:cs typeface="IBM Plex Sans"/>
                <a:sym typeface="IBM Plex Sans"/>
              </a:rPr>
              <a:t>Melatih, mengevaluasi, dan men-tuning model</a:t>
            </a:r>
          </a:p>
        </p:txBody>
      </p:sp>
      <p:sp>
        <p:nvSpPr>
          <p:cNvPr name="TextBox 11" id="11"/>
          <p:cNvSpPr txBox="true"/>
          <p:nvPr/>
        </p:nvSpPr>
        <p:spPr>
          <a:xfrm rot="0">
            <a:off x="1219200" y="6433185"/>
            <a:ext cx="16325088" cy="512445"/>
          </a:xfrm>
          <a:prstGeom prst="rect">
            <a:avLst/>
          </a:prstGeom>
        </p:spPr>
        <p:txBody>
          <a:bodyPr anchor="t" rtlCol="false" tIns="0" lIns="0" bIns="0" rIns="0">
            <a:spAutoFit/>
          </a:bodyPr>
          <a:lstStyle/>
          <a:p>
            <a:pPr algn="l">
              <a:lnSpc>
                <a:spcPts val="3359"/>
              </a:lnSpc>
            </a:pPr>
            <a:r>
              <a:rPr lang="en-US" sz="2400" b="true">
                <a:solidFill>
                  <a:srgbClr val="B85A1B"/>
                </a:solidFill>
                <a:latin typeface="IBM Plex Sans Bold"/>
                <a:ea typeface="IBM Plex Sans Bold"/>
                <a:cs typeface="IBM Plex Sans Bold"/>
                <a:sym typeface="IBM Plex Sans Bold"/>
              </a:rPr>
              <a:t>Aturan from scratch: tanpa model pretrained, tanpa nn.LSTM, metrik ditulis sendiri.</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Siklus vibe coding</a:t>
            </a:r>
          </a:p>
        </p:txBody>
      </p:sp>
      <p:grpSp>
        <p:nvGrpSpPr>
          <p:cNvPr name="Group 3" id="3"/>
          <p:cNvGrpSpPr/>
          <p:nvPr/>
        </p:nvGrpSpPr>
        <p:grpSpPr>
          <a:xfrm rot="0">
            <a:off x="1219200" y="2541270"/>
            <a:ext cx="3819525" cy="2971800"/>
            <a:chOff x="0" y="0"/>
            <a:chExt cx="5092700" cy="3962400"/>
          </a:xfrm>
        </p:grpSpPr>
        <p:sp>
          <p:nvSpPr>
            <p:cNvPr name="Freeform 4" id="4"/>
            <p:cNvSpPr/>
            <p:nvPr/>
          </p:nvSpPr>
          <p:spPr>
            <a:xfrm flipH="false" flipV="false" rot="0">
              <a:off x="0" y="0"/>
              <a:ext cx="5092700" cy="3962400"/>
            </a:xfrm>
            <a:custGeom>
              <a:avLst/>
              <a:gdLst/>
              <a:ahLst/>
              <a:cxnLst/>
              <a:rect r="r" b="b" t="t" l="l"/>
              <a:pathLst>
                <a:path h="3962400" w="5092700">
                  <a:moveTo>
                    <a:pt x="0" y="254000"/>
                  </a:moveTo>
                  <a:cubicBezTo>
                    <a:pt x="0" y="113665"/>
                    <a:pt x="113665" y="0"/>
                    <a:pt x="254000" y="0"/>
                  </a:cubicBezTo>
                  <a:lnTo>
                    <a:pt x="4838700" y="0"/>
                  </a:lnTo>
                  <a:cubicBezTo>
                    <a:pt x="4979035" y="0"/>
                    <a:pt x="5092700" y="113665"/>
                    <a:pt x="5092700" y="254000"/>
                  </a:cubicBezTo>
                  <a:lnTo>
                    <a:pt x="5092700" y="3708400"/>
                  </a:lnTo>
                  <a:cubicBezTo>
                    <a:pt x="5092700" y="3848735"/>
                    <a:pt x="4979035" y="3962400"/>
                    <a:pt x="4838700" y="3962400"/>
                  </a:cubicBezTo>
                  <a:lnTo>
                    <a:pt x="254000" y="3962400"/>
                  </a:lnTo>
                  <a:cubicBezTo>
                    <a:pt x="113665" y="3962400"/>
                    <a:pt x="0" y="3848735"/>
                    <a:pt x="0" y="3708400"/>
                  </a:cubicBezTo>
                  <a:close/>
                </a:path>
              </a:pathLst>
            </a:custGeom>
            <a:solidFill>
              <a:srgbClr val="14213D"/>
            </a:solidFill>
          </p:spPr>
        </p:sp>
      </p:grpSp>
      <p:sp>
        <p:nvSpPr>
          <p:cNvPr name="TextBox 5" id="5"/>
          <p:cNvSpPr txBox="true"/>
          <p:nvPr/>
        </p:nvSpPr>
        <p:spPr>
          <a:xfrm rot="0">
            <a:off x="1600200" y="2836545"/>
            <a:ext cx="3149251" cy="870585"/>
          </a:xfrm>
          <a:prstGeom prst="rect">
            <a:avLst/>
          </a:prstGeom>
        </p:spPr>
        <p:txBody>
          <a:bodyPr anchor="t" rtlCol="false" tIns="0" lIns="0" bIns="0" rIns="0">
            <a:spAutoFit/>
          </a:bodyPr>
          <a:lstStyle/>
          <a:p>
            <a:pPr algn="l">
              <a:lnSpc>
                <a:spcPts val="5880"/>
              </a:lnSpc>
            </a:pPr>
            <a:r>
              <a:rPr lang="en-US" sz="4200" b="true">
                <a:solidFill>
                  <a:srgbClr val="E8833A"/>
                </a:solidFill>
                <a:latin typeface="Rubik Bold"/>
                <a:ea typeface="Rubik Bold"/>
                <a:cs typeface="Rubik Bold"/>
                <a:sym typeface="Rubik Bold"/>
              </a:rPr>
              <a:t>1</a:t>
            </a:r>
          </a:p>
        </p:txBody>
      </p:sp>
      <p:sp>
        <p:nvSpPr>
          <p:cNvPr name="TextBox 6" id="6"/>
          <p:cNvSpPr txBox="true"/>
          <p:nvPr/>
        </p:nvSpPr>
        <p:spPr>
          <a:xfrm rot="0">
            <a:off x="1600200" y="3811905"/>
            <a:ext cx="3149251" cy="459105"/>
          </a:xfrm>
          <a:prstGeom prst="rect">
            <a:avLst/>
          </a:prstGeom>
        </p:spPr>
        <p:txBody>
          <a:bodyPr anchor="t" rtlCol="false" tIns="0" lIns="0" bIns="0" rIns="0">
            <a:spAutoFit/>
          </a:bodyPr>
          <a:lstStyle/>
          <a:p>
            <a:pPr algn="l">
              <a:lnSpc>
                <a:spcPts val="3240"/>
              </a:lnSpc>
            </a:pPr>
            <a:r>
              <a:rPr lang="en-US" sz="2700" b="true">
                <a:solidFill>
                  <a:srgbClr val="F6F4EE"/>
                </a:solidFill>
                <a:latin typeface="Rubik Bold"/>
                <a:ea typeface="Rubik Bold"/>
                <a:cs typeface="Rubik Bold"/>
                <a:sym typeface="Rubik Bold"/>
              </a:rPr>
              <a:t>Prompt</a:t>
            </a:r>
          </a:p>
        </p:txBody>
      </p:sp>
      <p:sp>
        <p:nvSpPr>
          <p:cNvPr name="TextBox 7" id="7"/>
          <p:cNvSpPr txBox="true"/>
          <p:nvPr/>
        </p:nvSpPr>
        <p:spPr>
          <a:xfrm rot="0">
            <a:off x="1600200" y="4337685"/>
            <a:ext cx="3149251" cy="832485"/>
          </a:xfrm>
          <a:prstGeom prst="rect">
            <a:avLst/>
          </a:prstGeom>
        </p:spPr>
        <p:txBody>
          <a:bodyPr anchor="t" rtlCol="false" tIns="0" lIns="0" bIns="0" rIns="0">
            <a:spAutoFit/>
          </a:bodyPr>
          <a:lstStyle/>
          <a:p>
            <a:pPr algn="l">
              <a:lnSpc>
                <a:spcPts val="2940"/>
              </a:lnSpc>
            </a:pPr>
            <a:r>
              <a:rPr lang="en-US" sz="2100">
                <a:solidFill>
                  <a:srgbClr val="C9D3E3"/>
                </a:solidFill>
                <a:latin typeface="IBM Plex Sans"/>
                <a:ea typeface="IBM Plex Sans"/>
                <a:cs typeface="IBM Plex Sans"/>
                <a:sym typeface="IBM Plex Sans"/>
              </a:rPr>
              <a:t>System prompt bersama + permintaan satu modul</a:t>
            </a:r>
          </a:p>
        </p:txBody>
      </p:sp>
      <p:grpSp>
        <p:nvGrpSpPr>
          <p:cNvPr name="Group 8" id="8"/>
          <p:cNvGrpSpPr/>
          <p:nvPr/>
        </p:nvGrpSpPr>
        <p:grpSpPr>
          <a:xfrm rot="0">
            <a:off x="5229225" y="2541270"/>
            <a:ext cx="3819525" cy="2971800"/>
            <a:chOff x="0" y="0"/>
            <a:chExt cx="5092700" cy="3962400"/>
          </a:xfrm>
        </p:grpSpPr>
        <p:sp>
          <p:nvSpPr>
            <p:cNvPr name="Freeform 9" id="9"/>
            <p:cNvSpPr/>
            <p:nvPr/>
          </p:nvSpPr>
          <p:spPr>
            <a:xfrm flipH="false" flipV="false" rot="0">
              <a:off x="0" y="0"/>
              <a:ext cx="5092700" cy="3962400"/>
            </a:xfrm>
            <a:custGeom>
              <a:avLst/>
              <a:gdLst/>
              <a:ahLst/>
              <a:cxnLst/>
              <a:rect r="r" b="b" t="t" l="l"/>
              <a:pathLst>
                <a:path h="3962400" w="5092700">
                  <a:moveTo>
                    <a:pt x="0" y="254000"/>
                  </a:moveTo>
                  <a:cubicBezTo>
                    <a:pt x="0" y="113665"/>
                    <a:pt x="113665" y="0"/>
                    <a:pt x="254000" y="0"/>
                  </a:cubicBezTo>
                  <a:lnTo>
                    <a:pt x="4838700" y="0"/>
                  </a:lnTo>
                  <a:cubicBezTo>
                    <a:pt x="4979035" y="0"/>
                    <a:pt x="5092700" y="113665"/>
                    <a:pt x="5092700" y="254000"/>
                  </a:cubicBezTo>
                  <a:lnTo>
                    <a:pt x="5092700" y="3708400"/>
                  </a:lnTo>
                  <a:cubicBezTo>
                    <a:pt x="5092700" y="3848735"/>
                    <a:pt x="4979035" y="3962400"/>
                    <a:pt x="4838700" y="3962400"/>
                  </a:cubicBezTo>
                  <a:lnTo>
                    <a:pt x="254000" y="3962400"/>
                  </a:lnTo>
                  <a:cubicBezTo>
                    <a:pt x="113665" y="3962400"/>
                    <a:pt x="0" y="3848735"/>
                    <a:pt x="0" y="3708400"/>
                  </a:cubicBezTo>
                  <a:close/>
                </a:path>
              </a:pathLst>
            </a:custGeom>
            <a:solidFill>
              <a:srgbClr val="14213D"/>
            </a:solidFill>
          </p:spPr>
        </p:sp>
      </p:grpSp>
      <p:sp>
        <p:nvSpPr>
          <p:cNvPr name="TextBox 10" id="10"/>
          <p:cNvSpPr txBox="true"/>
          <p:nvPr/>
        </p:nvSpPr>
        <p:spPr>
          <a:xfrm rot="0">
            <a:off x="5610225" y="2836545"/>
            <a:ext cx="3149251" cy="870585"/>
          </a:xfrm>
          <a:prstGeom prst="rect">
            <a:avLst/>
          </a:prstGeom>
        </p:spPr>
        <p:txBody>
          <a:bodyPr anchor="t" rtlCol="false" tIns="0" lIns="0" bIns="0" rIns="0">
            <a:spAutoFit/>
          </a:bodyPr>
          <a:lstStyle/>
          <a:p>
            <a:pPr algn="l">
              <a:lnSpc>
                <a:spcPts val="5880"/>
              </a:lnSpc>
            </a:pPr>
            <a:r>
              <a:rPr lang="en-US" sz="4200" b="true">
                <a:solidFill>
                  <a:srgbClr val="E8833A"/>
                </a:solidFill>
                <a:latin typeface="Rubik Bold"/>
                <a:ea typeface="Rubik Bold"/>
                <a:cs typeface="Rubik Bold"/>
                <a:sym typeface="Rubik Bold"/>
              </a:rPr>
              <a:t>2</a:t>
            </a:r>
          </a:p>
        </p:txBody>
      </p:sp>
      <p:sp>
        <p:nvSpPr>
          <p:cNvPr name="TextBox 11" id="11"/>
          <p:cNvSpPr txBox="true"/>
          <p:nvPr/>
        </p:nvSpPr>
        <p:spPr>
          <a:xfrm rot="0">
            <a:off x="5610225" y="3811905"/>
            <a:ext cx="3149251" cy="459105"/>
          </a:xfrm>
          <a:prstGeom prst="rect">
            <a:avLst/>
          </a:prstGeom>
        </p:spPr>
        <p:txBody>
          <a:bodyPr anchor="t" rtlCol="false" tIns="0" lIns="0" bIns="0" rIns="0">
            <a:spAutoFit/>
          </a:bodyPr>
          <a:lstStyle/>
          <a:p>
            <a:pPr algn="l">
              <a:lnSpc>
                <a:spcPts val="3240"/>
              </a:lnSpc>
            </a:pPr>
            <a:r>
              <a:rPr lang="en-US" sz="2700" b="true">
                <a:solidFill>
                  <a:srgbClr val="F6F4EE"/>
                </a:solidFill>
                <a:latin typeface="Rubik Bold"/>
                <a:ea typeface="Rubik Bold"/>
                <a:cs typeface="Rubik Bold"/>
                <a:sym typeface="Rubik Bold"/>
              </a:rPr>
              <a:t>Kode</a:t>
            </a:r>
          </a:p>
        </p:txBody>
      </p:sp>
      <p:sp>
        <p:nvSpPr>
          <p:cNvPr name="TextBox 12" id="12"/>
          <p:cNvSpPr txBox="true"/>
          <p:nvPr/>
        </p:nvSpPr>
        <p:spPr>
          <a:xfrm rot="0">
            <a:off x="5610225" y="4337685"/>
            <a:ext cx="3149251" cy="832485"/>
          </a:xfrm>
          <a:prstGeom prst="rect">
            <a:avLst/>
          </a:prstGeom>
        </p:spPr>
        <p:txBody>
          <a:bodyPr anchor="t" rtlCol="false" tIns="0" lIns="0" bIns="0" rIns="0">
            <a:spAutoFit/>
          </a:bodyPr>
          <a:lstStyle/>
          <a:p>
            <a:pPr algn="l">
              <a:lnSpc>
                <a:spcPts val="2940"/>
              </a:lnSpc>
            </a:pPr>
            <a:r>
              <a:rPr lang="en-US" sz="2100">
                <a:solidFill>
                  <a:srgbClr val="C9D3E3"/>
                </a:solidFill>
                <a:latin typeface="IBM Plex Sans"/>
                <a:ea typeface="IBM Plex Sans"/>
                <a:cs typeface="IBM Plex Sans"/>
                <a:sym typeface="IBM Plex Sans"/>
              </a:rPr>
              <a:t>LLM menulis modul beserta uji kecil</a:t>
            </a:r>
          </a:p>
        </p:txBody>
      </p:sp>
      <p:grpSp>
        <p:nvGrpSpPr>
          <p:cNvPr name="Group 13" id="13"/>
          <p:cNvGrpSpPr/>
          <p:nvPr/>
        </p:nvGrpSpPr>
        <p:grpSpPr>
          <a:xfrm rot="0">
            <a:off x="9239250" y="2541270"/>
            <a:ext cx="3819525" cy="2971800"/>
            <a:chOff x="0" y="0"/>
            <a:chExt cx="5092700" cy="3962400"/>
          </a:xfrm>
        </p:grpSpPr>
        <p:sp>
          <p:nvSpPr>
            <p:cNvPr name="Freeform 14" id="14"/>
            <p:cNvSpPr/>
            <p:nvPr/>
          </p:nvSpPr>
          <p:spPr>
            <a:xfrm flipH="false" flipV="false" rot="0">
              <a:off x="0" y="0"/>
              <a:ext cx="5092700" cy="3962400"/>
            </a:xfrm>
            <a:custGeom>
              <a:avLst/>
              <a:gdLst/>
              <a:ahLst/>
              <a:cxnLst/>
              <a:rect r="r" b="b" t="t" l="l"/>
              <a:pathLst>
                <a:path h="3962400" w="5092700">
                  <a:moveTo>
                    <a:pt x="0" y="254000"/>
                  </a:moveTo>
                  <a:cubicBezTo>
                    <a:pt x="0" y="113665"/>
                    <a:pt x="113665" y="0"/>
                    <a:pt x="254000" y="0"/>
                  </a:cubicBezTo>
                  <a:lnTo>
                    <a:pt x="4838700" y="0"/>
                  </a:lnTo>
                  <a:cubicBezTo>
                    <a:pt x="4979035" y="0"/>
                    <a:pt x="5092700" y="113665"/>
                    <a:pt x="5092700" y="254000"/>
                  </a:cubicBezTo>
                  <a:lnTo>
                    <a:pt x="5092700" y="3708400"/>
                  </a:lnTo>
                  <a:cubicBezTo>
                    <a:pt x="5092700" y="3848735"/>
                    <a:pt x="4979035" y="3962400"/>
                    <a:pt x="4838700" y="3962400"/>
                  </a:cubicBezTo>
                  <a:lnTo>
                    <a:pt x="254000" y="3962400"/>
                  </a:lnTo>
                  <a:cubicBezTo>
                    <a:pt x="113665" y="3962400"/>
                    <a:pt x="0" y="3848735"/>
                    <a:pt x="0" y="3708400"/>
                  </a:cubicBezTo>
                  <a:close/>
                </a:path>
              </a:pathLst>
            </a:custGeom>
            <a:solidFill>
              <a:srgbClr val="14213D"/>
            </a:solidFill>
          </p:spPr>
        </p:sp>
      </p:grpSp>
      <p:sp>
        <p:nvSpPr>
          <p:cNvPr name="TextBox 15" id="15"/>
          <p:cNvSpPr txBox="true"/>
          <p:nvPr/>
        </p:nvSpPr>
        <p:spPr>
          <a:xfrm rot="0">
            <a:off x="9620250" y="2836545"/>
            <a:ext cx="3149251" cy="870585"/>
          </a:xfrm>
          <a:prstGeom prst="rect">
            <a:avLst/>
          </a:prstGeom>
        </p:spPr>
        <p:txBody>
          <a:bodyPr anchor="t" rtlCol="false" tIns="0" lIns="0" bIns="0" rIns="0">
            <a:spAutoFit/>
          </a:bodyPr>
          <a:lstStyle/>
          <a:p>
            <a:pPr algn="l">
              <a:lnSpc>
                <a:spcPts val="5880"/>
              </a:lnSpc>
            </a:pPr>
            <a:r>
              <a:rPr lang="en-US" sz="4200" b="true">
                <a:solidFill>
                  <a:srgbClr val="E8833A"/>
                </a:solidFill>
                <a:latin typeface="Rubik Bold"/>
                <a:ea typeface="Rubik Bold"/>
                <a:cs typeface="Rubik Bold"/>
                <a:sym typeface="Rubik Bold"/>
              </a:rPr>
              <a:t>3</a:t>
            </a:r>
          </a:p>
        </p:txBody>
      </p:sp>
      <p:sp>
        <p:nvSpPr>
          <p:cNvPr name="TextBox 16" id="16"/>
          <p:cNvSpPr txBox="true"/>
          <p:nvPr/>
        </p:nvSpPr>
        <p:spPr>
          <a:xfrm rot="0">
            <a:off x="9620250" y="3811905"/>
            <a:ext cx="3149251" cy="459105"/>
          </a:xfrm>
          <a:prstGeom prst="rect">
            <a:avLst/>
          </a:prstGeom>
        </p:spPr>
        <p:txBody>
          <a:bodyPr anchor="t" rtlCol="false" tIns="0" lIns="0" bIns="0" rIns="0">
            <a:spAutoFit/>
          </a:bodyPr>
          <a:lstStyle/>
          <a:p>
            <a:pPr algn="l">
              <a:lnSpc>
                <a:spcPts val="3240"/>
              </a:lnSpc>
            </a:pPr>
            <a:r>
              <a:rPr lang="en-US" sz="2700" b="true">
                <a:solidFill>
                  <a:srgbClr val="F6F4EE"/>
                </a:solidFill>
                <a:latin typeface="Rubik Bold"/>
                <a:ea typeface="Rubik Bold"/>
                <a:cs typeface="Rubik Bold"/>
                <a:sym typeface="Rubik Bold"/>
              </a:rPr>
              <a:t>Jalankan</a:t>
            </a:r>
          </a:p>
        </p:txBody>
      </p:sp>
      <p:sp>
        <p:nvSpPr>
          <p:cNvPr name="TextBox 17" id="17"/>
          <p:cNvSpPr txBox="true"/>
          <p:nvPr/>
        </p:nvSpPr>
        <p:spPr>
          <a:xfrm rot="0">
            <a:off x="9620250" y="4337685"/>
            <a:ext cx="3149251" cy="832485"/>
          </a:xfrm>
          <a:prstGeom prst="rect">
            <a:avLst/>
          </a:prstGeom>
        </p:spPr>
        <p:txBody>
          <a:bodyPr anchor="t" rtlCol="false" tIns="0" lIns="0" bIns="0" rIns="0">
            <a:spAutoFit/>
          </a:bodyPr>
          <a:lstStyle/>
          <a:p>
            <a:pPr algn="l">
              <a:lnSpc>
                <a:spcPts val="2940"/>
              </a:lnSpc>
            </a:pPr>
            <a:r>
              <a:rPr lang="en-US" sz="2100">
                <a:solidFill>
                  <a:srgbClr val="C9D3E3"/>
                </a:solidFill>
                <a:latin typeface="IBM Plex Sans"/>
                <a:ea typeface="IBM Plex Sans"/>
                <a:cs typeface="IBM Plex Sans"/>
                <a:sym typeface="IBM Plex Sans"/>
              </a:rPr>
              <a:t>Uji di Colab GPU atau laptop</a:t>
            </a:r>
          </a:p>
        </p:txBody>
      </p:sp>
      <p:grpSp>
        <p:nvGrpSpPr>
          <p:cNvPr name="Group 18" id="18"/>
          <p:cNvGrpSpPr/>
          <p:nvPr/>
        </p:nvGrpSpPr>
        <p:grpSpPr>
          <a:xfrm rot="0">
            <a:off x="13249275" y="2541270"/>
            <a:ext cx="3819525" cy="2971800"/>
            <a:chOff x="0" y="0"/>
            <a:chExt cx="5092700" cy="3962400"/>
          </a:xfrm>
        </p:grpSpPr>
        <p:sp>
          <p:nvSpPr>
            <p:cNvPr name="Freeform 19" id="19"/>
            <p:cNvSpPr/>
            <p:nvPr/>
          </p:nvSpPr>
          <p:spPr>
            <a:xfrm flipH="false" flipV="false" rot="0">
              <a:off x="0" y="0"/>
              <a:ext cx="5092700" cy="3962400"/>
            </a:xfrm>
            <a:custGeom>
              <a:avLst/>
              <a:gdLst/>
              <a:ahLst/>
              <a:cxnLst/>
              <a:rect r="r" b="b" t="t" l="l"/>
              <a:pathLst>
                <a:path h="3962400" w="5092700">
                  <a:moveTo>
                    <a:pt x="0" y="254000"/>
                  </a:moveTo>
                  <a:cubicBezTo>
                    <a:pt x="0" y="113665"/>
                    <a:pt x="113665" y="0"/>
                    <a:pt x="254000" y="0"/>
                  </a:cubicBezTo>
                  <a:lnTo>
                    <a:pt x="4838700" y="0"/>
                  </a:lnTo>
                  <a:cubicBezTo>
                    <a:pt x="4979035" y="0"/>
                    <a:pt x="5092700" y="113665"/>
                    <a:pt x="5092700" y="254000"/>
                  </a:cubicBezTo>
                  <a:lnTo>
                    <a:pt x="5092700" y="3708400"/>
                  </a:lnTo>
                  <a:cubicBezTo>
                    <a:pt x="5092700" y="3848735"/>
                    <a:pt x="4979035" y="3962400"/>
                    <a:pt x="4838700" y="3962400"/>
                  </a:cubicBezTo>
                  <a:lnTo>
                    <a:pt x="254000" y="3962400"/>
                  </a:lnTo>
                  <a:cubicBezTo>
                    <a:pt x="113665" y="3962400"/>
                    <a:pt x="0" y="3848735"/>
                    <a:pt x="0" y="3708400"/>
                  </a:cubicBezTo>
                  <a:close/>
                </a:path>
              </a:pathLst>
            </a:custGeom>
            <a:solidFill>
              <a:srgbClr val="14213D"/>
            </a:solidFill>
          </p:spPr>
        </p:sp>
      </p:grpSp>
      <p:sp>
        <p:nvSpPr>
          <p:cNvPr name="TextBox 20" id="20"/>
          <p:cNvSpPr txBox="true"/>
          <p:nvPr/>
        </p:nvSpPr>
        <p:spPr>
          <a:xfrm rot="0">
            <a:off x="13630275" y="2836545"/>
            <a:ext cx="3149251" cy="870585"/>
          </a:xfrm>
          <a:prstGeom prst="rect">
            <a:avLst/>
          </a:prstGeom>
        </p:spPr>
        <p:txBody>
          <a:bodyPr anchor="t" rtlCol="false" tIns="0" lIns="0" bIns="0" rIns="0">
            <a:spAutoFit/>
          </a:bodyPr>
          <a:lstStyle/>
          <a:p>
            <a:pPr algn="l">
              <a:lnSpc>
                <a:spcPts val="5880"/>
              </a:lnSpc>
            </a:pPr>
            <a:r>
              <a:rPr lang="en-US" sz="4200" b="true">
                <a:solidFill>
                  <a:srgbClr val="E8833A"/>
                </a:solidFill>
                <a:latin typeface="Rubik Bold"/>
                <a:ea typeface="Rubik Bold"/>
                <a:cs typeface="Rubik Bold"/>
                <a:sym typeface="Rubik Bold"/>
              </a:rPr>
              <a:t>4</a:t>
            </a:r>
          </a:p>
        </p:txBody>
      </p:sp>
      <p:sp>
        <p:nvSpPr>
          <p:cNvPr name="TextBox 21" id="21"/>
          <p:cNvSpPr txBox="true"/>
          <p:nvPr/>
        </p:nvSpPr>
        <p:spPr>
          <a:xfrm rot="0">
            <a:off x="13630275" y="3811905"/>
            <a:ext cx="3149251" cy="459105"/>
          </a:xfrm>
          <a:prstGeom prst="rect">
            <a:avLst/>
          </a:prstGeom>
        </p:spPr>
        <p:txBody>
          <a:bodyPr anchor="t" rtlCol="false" tIns="0" lIns="0" bIns="0" rIns="0">
            <a:spAutoFit/>
          </a:bodyPr>
          <a:lstStyle/>
          <a:p>
            <a:pPr algn="l">
              <a:lnSpc>
                <a:spcPts val="3240"/>
              </a:lnSpc>
            </a:pPr>
            <a:r>
              <a:rPr lang="en-US" sz="2700" b="true">
                <a:solidFill>
                  <a:srgbClr val="F6F4EE"/>
                </a:solidFill>
                <a:latin typeface="Rubik Bold"/>
                <a:ea typeface="Rubik Bold"/>
                <a:cs typeface="Rubik Bold"/>
                <a:sym typeface="Rubik Bold"/>
              </a:rPr>
              <a:t>Debug &amp; log</a:t>
            </a:r>
          </a:p>
        </p:txBody>
      </p:sp>
      <p:sp>
        <p:nvSpPr>
          <p:cNvPr name="TextBox 22" id="22"/>
          <p:cNvSpPr txBox="true"/>
          <p:nvPr/>
        </p:nvSpPr>
        <p:spPr>
          <a:xfrm rot="0">
            <a:off x="13630275" y="4337685"/>
            <a:ext cx="3149251" cy="832485"/>
          </a:xfrm>
          <a:prstGeom prst="rect">
            <a:avLst/>
          </a:prstGeom>
        </p:spPr>
        <p:txBody>
          <a:bodyPr anchor="t" rtlCol="false" tIns="0" lIns="0" bIns="0" rIns="0">
            <a:spAutoFit/>
          </a:bodyPr>
          <a:lstStyle/>
          <a:p>
            <a:pPr algn="l">
              <a:lnSpc>
                <a:spcPts val="2940"/>
              </a:lnSpc>
            </a:pPr>
            <a:r>
              <a:rPr lang="en-US" sz="2100">
                <a:solidFill>
                  <a:srgbClr val="C9D3E3"/>
                </a:solidFill>
                <a:latin typeface="IBM Plex Sans"/>
                <a:ea typeface="IBM Plex Sans"/>
                <a:cs typeface="IBM Plex Sans"/>
                <a:sym typeface="IBM Plex Sans"/>
              </a:rPr>
              <a:t>Error dikirim ke LLM, solusi dicatat di log</a:t>
            </a:r>
          </a:p>
        </p:txBody>
      </p:sp>
      <p:sp>
        <p:nvSpPr>
          <p:cNvPr name="TextBox 23" id="23"/>
          <p:cNvSpPr txBox="true"/>
          <p:nvPr/>
        </p:nvSpPr>
        <p:spPr>
          <a:xfrm rot="0">
            <a:off x="1219200" y="5998845"/>
            <a:ext cx="16325088" cy="914400"/>
          </a:xfrm>
          <a:prstGeom prst="rect">
            <a:avLst/>
          </a:prstGeom>
        </p:spPr>
        <p:txBody>
          <a:bodyPr anchor="t" rtlCol="false" tIns="0" lIns="0" bIns="0" rIns="0">
            <a:spAutoFit/>
          </a:bodyPr>
          <a:lstStyle/>
          <a:p>
            <a:pPr algn="l">
              <a:lnSpc>
                <a:spcPts val="3262"/>
              </a:lnSpc>
            </a:pPr>
            <a:r>
              <a:rPr lang="en-US" sz="2250">
                <a:solidFill>
                  <a:srgbClr val="3D4A5C"/>
                </a:solidFill>
                <a:latin typeface="IBM Plex Sans"/>
                <a:ea typeface="IBM Plex Sans"/>
                <a:cs typeface="IBM Plex Sans"/>
                <a:sym typeface="IBM Plex Sans"/>
              </a:rPr>
              <a:t>Kontrak antarmodul disepakati di awal: gambar </a:t>
            </a:r>
            <a:r>
              <a:rPr lang="en-US" sz="2250" b="true">
                <a:solidFill>
                  <a:srgbClr val="3D4A5C"/>
                </a:solidFill>
                <a:latin typeface="IBM Plex Sans Bold"/>
                <a:ea typeface="IBM Plex Sans Bold"/>
                <a:cs typeface="IBM Plex Sans Bold"/>
                <a:sym typeface="IBM Plex Sans Bold"/>
              </a:rPr>
              <a:t>(B, 3, 128, 128)</a:t>
            </a:r>
            <a:r>
              <a:rPr lang="en-US" sz="2250">
                <a:solidFill>
                  <a:srgbClr val="3D4A5C"/>
                </a:solidFill>
                <a:latin typeface="IBM Plex Sans"/>
                <a:ea typeface="IBM Plex Sans"/>
                <a:cs typeface="IBM Plex Sans"/>
                <a:sym typeface="IBM Plex Sans"/>
              </a:rPr>
              <a:t> → fitur </a:t>
            </a:r>
            <a:r>
              <a:rPr lang="en-US" sz="2250" b="true">
                <a:solidFill>
                  <a:srgbClr val="3D4A5C"/>
                </a:solidFill>
                <a:latin typeface="IBM Plex Sans Bold"/>
                <a:ea typeface="IBM Plex Sans Bold"/>
                <a:cs typeface="IBM Plex Sans Bold"/>
                <a:sym typeface="IBM Plex Sans Bold"/>
              </a:rPr>
              <a:t>(B, 256)</a:t>
            </a:r>
            <a:r>
              <a:rPr lang="en-US" sz="2250">
                <a:solidFill>
                  <a:srgbClr val="3D4A5C"/>
                </a:solidFill>
                <a:latin typeface="IBM Plex Sans"/>
                <a:ea typeface="IBM Plex Sans"/>
                <a:cs typeface="IBM Plex Sans"/>
                <a:sym typeface="IBM Plex Sans"/>
              </a:rPr>
              <a:t> → logits </a:t>
            </a:r>
            <a:r>
              <a:rPr lang="en-US" sz="2250" b="true">
                <a:solidFill>
                  <a:srgbClr val="3D4A5C"/>
                </a:solidFill>
                <a:latin typeface="IBM Plex Sans Bold"/>
                <a:ea typeface="IBM Plex Sans Bold"/>
                <a:cs typeface="IBM Plex Sans Bold"/>
                <a:sym typeface="IBM Plex Sans Bold"/>
              </a:rPr>
              <a:t>(B, 29, V)</a:t>
            </a:r>
            <a:r>
              <a:rPr lang="en-US" sz="2250">
                <a:solidFill>
                  <a:srgbClr val="3D4A5C"/>
                </a:solidFill>
                <a:latin typeface="IBM Plex Sans"/>
                <a:ea typeface="IBM Plex Sans"/>
                <a:cs typeface="IBM Plex Sans"/>
                <a:sym typeface="IBM Plex Sans"/>
              </a:rPr>
              <a:t>, sehingga anggota bisa bekerja paralel di branch masing-masing dan digabung lewat Pull Request.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Arsitektur: mata dan mulut</a:t>
            </a:r>
          </a:p>
        </p:txBody>
      </p:sp>
      <p:grpSp>
        <p:nvGrpSpPr>
          <p:cNvPr name="Group 3" id="3"/>
          <p:cNvGrpSpPr/>
          <p:nvPr/>
        </p:nvGrpSpPr>
        <p:grpSpPr>
          <a:xfrm rot="0">
            <a:off x="1219200" y="2388870"/>
            <a:ext cx="15849600" cy="5048250"/>
            <a:chOff x="0" y="0"/>
            <a:chExt cx="21132800" cy="6731000"/>
          </a:xfrm>
        </p:grpSpPr>
        <p:sp>
          <p:nvSpPr>
            <p:cNvPr name="Freeform 4" id="4"/>
            <p:cNvSpPr/>
            <p:nvPr/>
          </p:nvSpPr>
          <p:spPr>
            <a:xfrm flipH="false" flipV="false" rot="0">
              <a:off x="0" y="0"/>
              <a:ext cx="21132800" cy="6731000"/>
            </a:xfrm>
            <a:custGeom>
              <a:avLst/>
              <a:gdLst/>
              <a:ahLst/>
              <a:cxnLst/>
              <a:rect r="r" b="b" t="t" l="l"/>
              <a:pathLst>
                <a:path h="6731000" w="21132800">
                  <a:moveTo>
                    <a:pt x="0" y="203200"/>
                  </a:moveTo>
                  <a:cubicBezTo>
                    <a:pt x="0" y="90932"/>
                    <a:pt x="90932" y="0"/>
                    <a:pt x="203200" y="0"/>
                  </a:cubicBezTo>
                  <a:lnTo>
                    <a:pt x="20929600" y="0"/>
                  </a:lnTo>
                  <a:cubicBezTo>
                    <a:pt x="21041868" y="0"/>
                    <a:pt x="21132800" y="90932"/>
                    <a:pt x="21132800" y="203200"/>
                  </a:cubicBezTo>
                  <a:lnTo>
                    <a:pt x="21132800" y="6527800"/>
                  </a:lnTo>
                  <a:cubicBezTo>
                    <a:pt x="21132800" y="6640068"/>
                    <a:pt x="21041868" y="6731000"/>
                    <a:pt x="20929600" y="6731000"/>
                  </a:cubicBezTo>
                  <a:lnTo>
                    <a:pt x="203200" y="6731000"/>
                  </a:lnTo>
                  <a:cubicBezTo>
                    <a:pt x="90932" y="6731000"/>
                    <a:pt x="0" y="6640068"/>
                    <a:pt x="0" y="6527800"/>
                  </a:cubicBezTo>
                  <a:close/>
                </a:path>
              </a:pathLst>
            </a:custGeom>
            <a:solidFill>
              <a:srgbClr val="FFFFFF"/>
            </a:solidFill>
          </p:spPr>
        </p:sp>
      </p:grpSp>
      <p:grpSp>
        <p:nvGrpSpPr>
          <p:cNvPr name="Group 5" id="5"/>
          <p:cNvGrpSpPr/>
          <p:nvPr/>
        </p:nvGrpSpPr>
        <p:grpSpPr>
          <a:xfrm rot="0">
            <a:off x="1219200" y="2388870"/>
            <a:ext cx="15849600" cy="5048250"/>
            <a:chOff x="0" y="0"/>
            <a:chExt cx="21132800" cy="6731000"/>
          </a:xfrm>
        </p:grpSpPr>
        <p:sp>
          <p:nvSpPr>
            <p:cNvPr name="Freeform 6" id="6" descr="Diagram arsitektur: gambar masuk EncoderCNN menjadi fitur 256, lalu DecoderLSTM menghasilkan caption"/>
            <p:cNvSpPr/>
            <p:nvPr/>
          </p:nvSpPr>
          <p:spPr>
            <a:xfrm flipH="false" flipV="false" rot="0">
              <a:off x="0" y="0"/>
              <a:ext cx="21132800" cy="6731000"/>
            </a:xfrm>
            <a:custGeom>
              <a:avLst/>
              <a:gdLst/>
              <a:ahLst/>
              <a:cxnLst/>
              <a:rect r="r" b="b" t="t" l="l"/>
              <a:pathLst>
                <a:path h="6731000" w="21132800">
                  <a:moveTo>
                    <a:pt x="0" y="0"/>
                  </a:moveTo>
                  <a:lnTo>
                    <a:pt x="21132800" y="0"/>
                  </a:lnTo>
                  <a:lnTo>
                    <a:pt x="21132800" y="6731000"/>
                  </a:lnTo>
                  <a:lnTo>
                    <a:pt x="0" y="6731000"/>
                  </a:lnTo>
                  <a:lnTo>
                    <a:pt x="0" y="0"/>
                  </a:lnTo>
                  <a:close/>
                </a:path>
              </a:pathLst>
            </a:custGeom>
            <a:blipFill>
              <a:blip r:embed="rId3"/>
              <a:stretch>
                <a:fillRect l="58" t="0" r="57" b="0"/>
              </a:stretch>
            </a:blipFill>
          </p:spPr>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9763761" cy="80581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Dataset Flickr8k -Praproses</a:t>
            </a:r>
          </a:p>
        </p:txBody>
      </p:sp>
      <p:grpSp>
        <p:nvGrpSpPr>
          <p:cNvPr name="Group 3" id="3"/>
          <p:cNvGrpSpPr/>
          <p:nvPr/>
        </p:nvGrpSpPr>
        <p:grpSpPr>
          <a:xfrm rot="0">
            <a:off x="1219262" y="3074134"/>
            <a:ext cx="5079921" cy="2415540"/>
            <a:chOff x="0" y="0"/>
            <a:chExt cx="6773228" cy="3220720"/>
          </a:xfrm>
        </p:grpSpPr>
        <p:sp>
          <p:nvSpPr>
            <p:cNvPr name="Freeform 4" id="4"/>
            <p:cNvSpPr/>
            <p:nvPr/>
          </p:nvSpPr>
          <p:spPr>
            <a:xfrm flipH="false" flipV="false" rot="0">
              <a:off x="0" y="0"/>
              <a:ext cx="6773164" cy="3220720"/>
            </a:xfrm>
            <a:custGeom>
              <a:avLst/>
              <a:gdLst/>
              <a:ahLst/>
              <a:cxnLst/>
              <a:rect r="r" b="b" t="t" l="l"/>
              <a:pathLst>
                <a:path h="3220720" w="6773164">
                  <a:moveTo>
                    <a:pt x="0" y="243205"/>
                  </a:moveTo>
                  <a:cubicBezTo>
                    <a:pt x="0" y="108839"/>
                    <a:pt x="108839" y="0"/>
                    <a:pt x="243205" y="0"/>
                  </a:cubicBezTo>
                  <a:lnTo>
                    <a:pt x="6529959" y="0"/>
                  </a:lnTo>
                  <a:cubicBezTo>
                    <a:pt x="6664325" y="0"/>
                    <a:pt x="6773164" y="108839"/>
                    <a:pt x="6773164" y="243205"/>
                  </a:cubicBezTo>
                  <a:lnTo>
                    <a:pt x="6773164" y="2977515"/>
                  </a:lnTo>
                  <a:cubicBezTo>
                    <a:pt x="6773164" y="3111881"/>
                    <a:pt x="6664325" y="3220720"/>
                    <a:pt x="6529959" y="3220720"/>
                  </a:cubicBezTo>
                  <a:lnTo>
                    <a:pt x="243205" y="3220720"/>
                  </a:lnTo>
                  <a:cubicBezTo>
                    <a:pt x="108839" y="3220720"/>
                    <a:pt x="0" y="3111881"/>
                    <a:pt x="0" y="2977515"/>
                  </a:cubicBezTo>
                  <a:close/>
                </a:path>
              </a:pathLst>
            </a:custGeom>
            <a:solidFill>
              <a:srgbClr val="FFFDF8"/>
            </a:solidFill>
            <a:ln w="19050" cap="sq">
              <a:solidFill>
                <a:srgbClr val="E3DED2"/>
              </a:solidFill>
              <a:prstDash val="solid"/>
              <a:miter/>
            </a:ln>
          </p:spPr>
        </p:sp>
      </p:grpSp>
      <p:sp>
        <p:nvSpPr>
          <p:cNvPr name="TextBox 5" id="5"/>
          <p:cNvSpPr txBox="true"/>
          <p:nvPr/>
        </p:nvSpPr>
        <p:spPr>
          <a:xfrm rot="0">
            <a:off x="1615502" y="3327499"/>
            <a:ext cx="4416066" cy="1354455"/>
          </a:xfrm>
          <a:prstGeom prst="rect">
            <a:avLst/>
          </a:prstGeom>
        </p:spPr>
        <p:txBody>
          <a:bodyPr anchor="t" rtlCol="false" tIns="0" lIns="0" bIns="0" rIns="0">
            <a:spAutoFit/>
          </a:bodyPr>
          <a:lstStyle/>
          <a:p>
            <a:pPr algn="l">
              <a:lnSpc>
                <a:spcPts val="9240"/>
              </a:lnSpc>
            </a:pPr>
            <a:r>
              <a:rPr lang="en-US" sz="6600" b="true">
                <a:solidFill>
                  <a:srgbClr val="14213D"/>
                </a:solidFill>
                <a:latin typeface="Rubik Bold"/>
                <a:ea typeface="Rubik Bold"/>
                <a:cs typeface="Rubik Bold"/>
                <a:sym typeface="Rubik Bold"/>
              </a:rPr>
              <a:t>8.091</a:t>
            </a:r>
          </a:p>
        </p:txBody>
      </p:sp>
      <p:sp>
        <p:nvSpPr>
          <p:cNvPr name="TextBox 6" id="6"/>
          <p:cNvSpPr txBox="true"/>
          <p:nvPr/>
        </p:nvSpPr>
        <p:spPr>
          <a:xfrm rot="0">
            <a:off x="1615502" y="4672429"/>
            <a:ext cx="4416066" cy="459105"/>
          </a:xfrm>
          <a:prstGeom prst="rect">
            <a:avLst/>
          </a:prstGeom>
        </p:spPr>
        <p:txBody>
          <a:bodyPr anchor="t" rtlCol="false" tIns="0" lIns="0" bIns="0" rIns="0">
            <a:spAutoFit/>
          </a:bodyPr>
          <a:lstStyle/>
          <a:p>
            <a:pPr algn="l">
              <a:lnSpc>
                <a:spcPts val="2940"/>
              </a:lnSpc>
            </a:pPr>
            <a:r>
              <a:rPr lang="en-US" sz="2100">
                <a:solidFill>
                  <a:srgbClr val="3D4A5C"/>
                </a:solidFill>
                <a:latin typeface="IBM Plex Sans"/>
                <a:ea typeface="IBM Plex Sans"/>
                <a:cs typeface="IBM Plex Sans"/>
                <a:sym typeface="IBM Plex Sans"/>
              </a:rPr>
              <a:t>gambar, 5 caption per gambar</a:t>
            </a:r>
          </a:p>
        </p:txBody>
      </p:sp>
      <p:grpSp>
        <p:nvGrpSpPr>
          <p:cNvPr name="Group 7" id="7"/>
          <p:cNvGrpSpPr/>
          <p:nvPr/>
        </p:nvGrpSpPr>
        <p:grpSpPr>
          <a:xfrm rot="0">
            <a:off x="6603983" y="3074134"/>
            <a:ext cx="5080035" cy="2415540"/>
            <a:chOff x="0" y="0"/>
            <a:chExt cx="6773380" cy="3220720"/>
          </a:xfrm>
        </p:grpSpPr>
        <p:sp>
          <p:nvSpPr>
            <p:cNvPr name="Freeform 8" id="8"/>
            <p:cNvSpPr/>
            <p:nvPr/>
          </p:nvSpPr>
          <p:spPr>
            <a:xfrm flipH="false" flipV="false" rot="0">
              <a:off x="0" y="0"/>
              <a:ext cx="6773418" cy="3220720"/>
            </a:xfrm>
            <a:custGeom>
              <a:avLst/>
              <a:gdLst/>
              <a:ahLst/>
              <a:cxnLst/>
              <a:rect r="r" b="b" t="t" l="l"/>
              <a:pathLst>
                <a:path h="3220720" w="6773418">
                  <a:moveTo>
                    <a:pt x="0" y="243205"/>
                  </a:moveTo>
                  <a:cubicBezTo>
                    <a:pt x="0" y="108839"/>
                    <a:pt x="108839" y="0"/>
                    <a:pt x="243205" y="0"/>
                  </a:cubicBezTo>
                  <a:lnTo>
                    <a:pt x="6530213" y="0"/>
                  </a:lnTo>
                  <a:cubicBezTo>
                    <a:pt x="6664579" y="0"/>
                    <a:pt x="6773418" y="108839"/>
                    <a:pt x="6773418" y="243205"/>
                  </a:cubicBezTo>
                  <a:lnTo>
                    <a:pt x="6773418" y="2977515"/>
                  </a:lnTo>
                  <a:cubicBezTo>
                    <a:pt x="6773418" y="3111881"/>
                    <a:pt x="6664579" y="3220720"/>
                    <a:pt x="6530213" y="3220720"/>
                  </a:cubicBezTo>
                  <a:lnTo>
                    <a:pt x="243205" y="3220720"/>
                  </a:lnTo>
                  <a:cubicBezTo>
                    <a:pt x="108839" y="3220720"/>
                    <a:pt x="0" y="3111881"/>
                    <a:pt x="0" y="2977515"/>
                  </a:cubicBezTo>
                  <a:close/>
                </a:path>
              </a:pathLst>
            </a:custGeom>
            <a:solidFill>
              <a:srgbClr val="FFFDF8"/>
            </a:solidFill>
            <a:ln w="19050" cap="sq">
              <a:solidFill>
                <a:srgbClr val="E3DED2"/>
              </a:solidFill>
              <a:prstDash val="solid"/>
              <a:miter/>
            </a:ln>
          </p:spPr>
        </p:sp>
      </p:grpSp>
      <p:sp>
        <p:nvSpPr>
          <p:cNvPr name="TextBox 9" id="9"/>
          <p:cNvSpPr txBox="true"/>
          <p:nvPr/>
        </p:nvSpPr>
        <p:spPr>
          <a:xfrm rot="0">
            <a:off x="7000223" y="3327499"/>
            <a:ext cx="4416190" cy="1354455"/>
          </a:xfrm>
          <a:prstGeom prst="rect">
            <a:avLst/>
          </a:prstGeom>
        </p:spPr>
        <p:txBody>
          <a:bodyPr anchor="t" rtlCol="false" tIns="0" lIns="0" bIns="0" rIns="0">
            <a:spAutoFit/>
          </a:bodyPr>
          <a:lstStyle/>
          <a:p>
            <a:pPr algn="l">
              <a:lnSpc>
                <a:spcPts val="9240"/>
              </a:lnSpc>
            </a:pPr>
            <a:r>
              <a:rPr lang="en-US" sz="6600" b="true">
                <a:solidFill>
                  <a:srgbClr val="14213D"/>
                </a:solidFill>
                <a:latin typeface="Rubik Bold"/>
                <a:ea typeface="Rubik Bold"/>
                <a:cs typeface="Rubik Bold"/>
                <a:sym typeface="Rubik Bold"/>
              </a:rPr>
              <a:t>6.091</a:t>
            </a:r>
          </a:p>
        </p:txBody>
      </p:sp>
      <p:sp>
        <p:nvSpPr>
          <p:cNvPr name="TextBox 10" id="10"/>
          <p:cNvSpPr txBox="true"/>
          <p:nvPr/>
        </p:nvSpPr>
        <p:spPr>
          <a:xfrm rot="0">
            <a:off x="7000223" y="4672429"/>
            <a:ext cx="4416190" cy="365760"/>
          </a:xfrm>
          <a:prstGeom prst="rect">
            <a:avLst/>
          </a:prstGeom>
        </p:spPr>
        <p:txBody>
          <a:bodyPr anchor="t" rtlCol="false" tIns="0" lIns="0" bIns="0" rIns="0">
            <a:spAutoFit/>
          </a:bodyPr>
          <a:lstStyle/>
          <a:p>
            <a:pPr algn="l">
              <a:lnSpc>
                <a:spcPts val="2940"/>
              </a:lnSpc>
            </a:pPr>
            <a:r>
              <a:rPr lang="en-US" sz="2100">
                <a:solidFill>
                  <a:srgbClr val="3D4A5C"/>
                </a:solidFill>
                <a:latin typeface="IBM Plex Sans"/>
                <a:ea typeface="IBM Plex Sans"/>
                <a:cs typeface="IBM Plex Sans"/>
                <a:sym typeface="IBM Plex Sans"/>
              </a:rPr>
              <a:t>train - &gt; 1.000 val -&gt; 1.000 test</a:t>
            </a:r>
          </a:p>
        </p:txBody>
      </p:sp>
      <p:grpSp>
        <p:nvGrpSpPr>
          <p:cNvPr name="Group 11" id="11"/>
          <p:cNvGrpSpPr/>
          <p:nvPr/>
        </p:nvGrpSpPr>
        <p:grpSpPr>
          <a:xfrm rot="0">
            <a:off x="11988827" y="3074134"/>
            <a:ext cx="5080035" cy="2415540"/>
            <a:chOff x="0" y="0"/>
            <a:chExt cx="6773380" cy="3220720"/>
          </a:xfrm>
        </p:grpSpPr>
        <p:sp>
          <p:nvSpPr>
            <p:cNvPr name="Freeform 12" id="12"/>
            <p:cNvSpPr/>
            <p:nvPr/>
          </p:nvSpPr>
          <p:spPr>
            <a:xfrm flipH="false" flipV="false" rot="0">
              <a:off x="0" y="0"/>
              <a:ext cx="6773418" cy="3220720"/>
            </a:xfrm>
            <a:custGeom>
              <a:avLst/>
              <a:gdLst/>
              <a:ahLst/>
              <a:cxnLst/>
              <a:rect r="r" b="b" t="t" l="l"/>
              <a:pathLst>
                <a:path h="3220720" w="6773418">
                  <a:moveTo>
                    <a:pt x="0" y="243205"/>
                  </a:moveTo>
                  <a:cubicBezTo>
                    <a:pt x="0" y="108839"/>
                    <a:pt x="108839" y="0"/>
                    <a:pt x="243205" y="0"/>
                  </a:cubicBezTo>
                  <a:lnTo>
                    <a:pt x="6530213" y="0"/>
                  </a:lnTo>
                  <a:cubicBezTo>
                    <a:pt x="6664579" y="0"/>
                    <a:pt x="6773418" y="108839"/>
                    <a:pt x="6773418" y="243205"/>
                  </a:cubicBezTo>
                  <a:lnTo>
                    <a:pt x="6773418" y="2977515"/>
                  </a:lnTo>
                  <a:cubicBezTo>
                    <a:pt x="6773418" y="3111881"/>
                    <a:pt x="6664579" y="3220720"/>
                    <a:pt x="6530213" y="3220720"/>
                  </a:cubicBezTo>
                  <a:lnTo>
                    <a:pt x="243205" y="3220720"/>
                  </a:lnTo>
                  <a:cubicBezTo>
                    <a:pt x="108839" y="3220720"/>
                    <a:pt x="0" y="3111881"/>
                    <a:pt x="0" y="2977515"/>
                  </a:cubicBezTo>
                  <a:close/>
                </a:path>
              </a:pathLst>
            </a:custGeom>
            <a:solidFill>
              <a:srgbClr val="FFFDF8"/>
            </a:solidFill>
            <a:ln w="19050" cap="sq">
              <a:solidFill>
                <a:srgbClr val="E3DED2"/>
              </a:solidFill>
              <a:prstDash val="solid"/>
              <a:miter/>
            </a:ln>
          </p:spPr>
        </p:sp>
      </p:grpSp>
      <p:sp>
        <p:nvSpPr>
          <p:cNvPr name="TextBox 13" id="13"/>
          <p:cNvSpPr txBox="true"/>
          <p:nvPr/>
        </p:nvSpPr>
        <p:spPr>
          <a:xfrm rot="0">
            <a:off x="12385067" y="3327499"/>
            <a:ext cx="4416190" cy="1354455"/>
          </a:xfrm>
          <a:prstGeom prst="rect">
            <a:avLst/>
          </a:prstGeom>
        </p:spPr>
        <p:txBody>
          <a:bodyPr anchor="t" rtlCol="false" tIns="0" lIns="0" bIns="0" rIns="0">
            <a:spAutoFit/>
          </a:bodyPr>
          <a:lstStyle/>
          <a:p>
            <a:pPr algn="l">
              <a:lnSpc>
                <a:spcPts val="9240"/>
              </a:lnSpc>
            </a:pPr>
            <a:r>
              <a:rPr lang="en-US" sz="6600" b="true">
                <a:solidFill>
                  <a:srgbClr val="14213D"/>
                </a:solidFill>
                <a:latin typeface="Rubik Bold"/>
                <a:ea typeface="Rubik Bold"/>
                <a:cs typeface="Rubik Bold"/>
                <a:sym typeface="Rubik Bold"/>
              </a:rPr>
              <a:t>2.579</a:t>
            </a:r>
          </a:p>
        </p:txBody>
      </p:sp>
      <p:sp>
        <p:nvSpPr>
          <p:cNvPr name="TextBox 14" id="14"/>
          <p:cNvSpPr txBox="true"/>
          <p:nvPr/>
        </p:nvSpPr>
        <p:spPr>
          <a:xfrm rot="0">
            <a:off x="12385067" y="4672429"/>
            <a:ext cx="4416190" cy="459105"/>
          </a:xfrm>
          <a:prstGeom prst="rect">
            <a:avLst/>
          </a:prstGeom>
        </p:spPr>
        <p:txBody>
          <a:bodyPr anchor="t" rtlCol="false" tIns="0" lIns="0" bIns="0" rIns="0">
            <a:spAutoFit/>
          </a:bodyPr>
          <a:lstStyle/>
          <a:p>
            <a:pPr algn="l">
              <a:lnSpc>
                <a:spcPts val="2940"/>
              </a:lnSpc>
            </a:pPr>
            <a:r>
              <a:rPr lang="en-US" sz="2100">
                <a:solidFill>
                  <a:srgbClr val="3D4A5C"/>
                </a:solidFill>
                <a:latin typeface="IBM Plex Sans"/>
                <a:ea typeface="IBM Plex Sans"/>
                <a:cs typeface="IBM Plex Sans"/>
                <a:sym typeface="IBM Plex Sans"/>
              </a:rPr>
              <a:t>kata di kosakata (min. muncul 5x)</a:t>
            </a:r>
          </a:p>
        </p:txBody>
      </p:sp>
      <p:sp>
        <p:nvSpPr>
          <p:cNvPr name="TextBox 15" id="15"/>
          <p:cNvSpPr txBox="true"/>
          <p:nvPr/>
        </p:nvSpPr>
        <p:spPr>
          <a:xfrm rot="0">
            <a:off x="1219200" y="5923803"/>
            <a:ext cx="15849600" cy="2024063"/>
          </a:xfrm>
          <a:prstGeom prst="rect">
            <a:avLst/>
          </a:prstGeom>
        </p:spPr>
        <p:txBody>
          <a:bodyPr anchor="t" rtlCol="false" tIns="0" lIns="0" bIns="0" rIns="0">
            <a:spAutoFit/>
          </a:bodyPr>
          <a:lstStyle/>
          <a:p>
            <a:pPr algn="l" marL="485775" indent="-242888" lvl="1">
              <a:lnSpc>
                <a:spcPts val="3262"/>
              </a:lnSpc>
              <a:buFont typeface="Arial"/>
              <a:buChar char="•"/>
            </a:pPr>
            <a:r>
              <a:rPr lang="en-US" sz="2250">
                <a:solidFill>
                  <a:srgbClr val="3D4A5C"/>
                </a:solidFill>
                <a:latin typeface="IBM Plex Sans"/>
                <a:ea typeface="IBM Plex Sans"/>
                <a:cs typeface="IBM Plex Sans"/>
                <a:sym typeface="IBM Plex Sans"/>
              </a:rPr>
              <a:t>Be</a:t>
            </a:r>
            <a:r>
              <a:rPr lang="en-US" sz="2250">
                <a:solidFill>
                  <a:srgbClr val="3D4A5C"/>
                </a:solidFill>
                <a:latin typeface="IBM Plex Sans"/>
                <a:ea typeface="IBM Plex Sans"/>
                <a:cs typeface="IBM Plex Sans"/>
                <a:sym typeface="IBM Plex Sans"/>
              </a:rPr>
              <a:t>nchmark standar untuk Image Captioning</a:t>
            </a:r>
          </a:p>
          <a:p>
            <a:pPr algn="l" marL="485775" indent="-242888" lvl="1">
              <a:lnSpc>
                <a:spcPts val="3262"/>
              </a:lnSpc>
              <a:buFont typeface="Arial"/>
              <a:buChar char="•"/>
            </a:pPr>
            <a:r>
              <a:rPr lang="en-US" sz="2250">
                <a:solidFill>
                  <a:srgbClr val="3D4A5C"/>
                </a:solidFill>
                <a:latin typeface="IBM Plex Sans"/>
                <a:ea typeface="IBM Plex Sans"/>
                <a:cs typeface="IBM Plex Sans"/>
                <a:sym typeface="IBM Plex Sans"/>
              </a:rPr>
              <a:t>Berisi 8.091 gambar (.jpg) dengan 5 deskripsi berbeda per gambar (total 40.455 captions)</a:t>
            </a:r>
          </a:p>
          <a:p>
            <a:pPr algn="l" marL="485775" indent="-242888" lvl="1">
              <a:lnSpc>
                <a:spcPts val="3262"/>
              </a:lnSpc>
              <a:buFont typeface="Arial"/>
              <a:buChar char="•"/>
            </a:pPr>
            <a:r>
              <a:rPr lang="en-US" sz="2250">
                <a:solidFill>
                  <a:srgbClr val="3D4A5C"/>
                </a:solidFill>
                <a:latin typeface="IBM Plex Sans"/>
                <a:ea typeface="IBM Plex Sans"/>
                <a:cs typeface="IBM Plex Sans"/>
                <a:sym typeface="IBM Plex Sans"/>
              </a:rPr>
              <a:t>Berukuran ~1 GB, terdiri dari folder foto (</a:t>
            </a:r>
            <a:r>
              <a:rPr lang="en-US" b="true" sz="2250">
                <a:solidFill>
                  <a:srgbClr val="3D4A5C"/>
                </a:solidFill>
                <a:latin typeface="IBM Plex Sans Bold"/>
                <a:ea typeface="IBM Plex Sans Bold"/>
                <a:cs typeface="IBM Plex Sans Bold"/>
                <a:sym typeface="IBM Plex Sans Bold"/>
              </a:rPr>
              <a:t>Images/</a:t>
            </a:r>
            <a:r>
              <a:rPr lang="en-US" sz="2250">
                <a:solidFill>
                  <a:srgbClr val="3D4A5C"/>
                </a:solidFill>
                <a:latin typeface="IBM Plex Sans"/>
                <a:ea typeface="IBM Plex Sans"/>
                <a:cs typeface="IBM Plex Sans"/>
                <a:sym typeface="IBM Plex Sans"/>
              </a:rPr>
              <a:t>) dan file teks (</a:t>
            </a:r>
            <a:r>
              <a:rPr lang="en-US" b="true" sz="2250">
                <a:solidFill>
                  <a:srgbClr val="3D4A5C"/>
                </a:solidFill>
                <a:latin typeface="IBM Plex Sans Bold"/>
                <a:ea typeface="IBM Plex Sans Bold"/>
                <a:cs typeface="IBM Plex Sans Bold"/>
                <a:sym typeface="IBM Plex Sans Bold"/>
              </a:rPr>
              <a:t>captions.txt</a:t>
            </a:r>
            <a:r>
              <a:rPr lang="en-US" sz="2250">
                <a:solidFill>
                  <a:srgbClr val="3D4A5C"/>
                </a:solidFill>
                <a:latin typeface="IBM Plex Sans"/>
                <a:ea typeface="IBM Plex Sans"/>
                <a:cs typeface="IBM Plex Sans"/>
                <a:sym typeface="IBM Plex Sans"/>
              </a:rPr>
              <a:t>)</a:t>
            </a:r>
          </a:p>
          <a:p>
            <a:pPr algn="l" marL="485775" indent="-242888" lvl="1">
              <a:lnSpc>
                <a:spcPts val="3262"/>
              </a:lnSpc>
              <a:buFont typeface="Arial"/>
              <a:buChar char="•"/>
            </a:pPr>
            <a:r>
              <a:rPr lang="en-US" sz="2250">
                <a:solidFill>
                  <a:srgbClr val="3D4A5C"/>
                </a:solidFill>
                <a:latin typeface="IBM Plex Sans"/>
                <a:ea typeface="IBM Plex Sans"/>
                <a:cs typeface="IBM Plex Sans"/>
                <a:sym typeface="IBM Plex Sans"/>
              </a:rPr>
              <a:t>Tautan dataset: </a:t>
            </a:r>
            <a:r>
              <a:rPr lang="en-US" b="true" sz="2250">
                <a:solidFill>
                  <a:srgbClr val="3D4A5C"/>
                </a:solidFill>
                <a:latin typeface="IBM Plex Sans Bold"/>
                <a:ea typeface="IBM Plex Sans Bold"/>
                <a:cs typeface="IBM Plex Sans Bold"/>
                <a:sym typeface="IBM Plex Sans Bold"/>
              </a:rPr>
              <a:t>kaggle.com/datasets/adityajn105/flickr8k</a:t>
            </a:r>
          </a:p>
          <a:p>
            <a:pPr algn="l">
              <a:lnSpc>
                <a:spcPts val="326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pSp>
        <p:nvGrpSpPr>
          <p:cNvPr name="Group 2" id="2"/>
          <p:cNvGrpSpPr/>
          <p:nvPr/>
        </p:nvGrpSpPr>
        <p:grpSpPr>
          <a:xfrm rot="0">
            <a:off x="1219200" y="2388870"/>
            <a:ext cx="15849600" cy="5048250"/>
            <a:chOff x="0" y="0"/>
            <a:chExt cx="21132800" cy="6731000"/>
          </a:xfrm>
        </p:grpSpPr>
        <p:sp>
          <p:nvSpPr>
            <p:cNvPr name="Freeform 3" id="3"/>
            <p:cNvSpPr/>
            <p:nvPr/>
          </p:nvSpPr>
          <p:spPr>
            <a:xfrm flipH="false" flipV="false" rot="0">
              <a:off x="0" y="0"/>
              <a:ext cx="21132800" cy="6731000"/>
            </a:xfrm>
            <a:custGeom>
              <a:avLst/>
              <a:gdLst/>
              <a:ahLst/>
              <a:cxnLst/>
              <a:rect r="r" b="b" t="t" l="l"/>
              <a:pathLst>
                <a:path h="6731000" w="21132800">
                  <a:moveTo>
                    <a:pt x="0" y="203200"/>
                  </a:moveTo>
                  <a:cubicBezTo>
                    <a:pt x="0" y="90932"/>
                    <a:pt x="90932" y="0"/>
                    <a:pt x="203200" y="0"/>
                  </a:cubicBezTo>
                  <a:lnTo>
                    <a:pt x="20929600" y="0"/>
                  </a:lnTo>
                  <a:cubicBezTo>
                    <a:pt x="21041868" y="0"/>
                    <a:pt x="21132800" y="90932"/>
                    <a:pt x="21132800" y="203200"/>
                  </a:cubicBezTo>
                  <a:lnTo>
                    <a:pt x="21132800" y="6527800"/>
                  </a:lnTo>
                  <a:cubicBezTo>
                    <a:pt x="21132800" y="6640068"/>
                    <a:pt x="21041868" y="6731000"/>
                    <a:pt x="20929600" y="6731000"/>
                  </a:cubicBezTo>
                  <a:lnTo>
                    <a:pt x="203200" y="6731000"/>
                  </a:lnTo>
                  <a:cubicBezTo>
                    <a:pt x="90932" y="6731000"/>
                    <a:pt x="0" y="6640068"/>
                    <a:pt x="0" y="6527800"/>
                  </a:cubicBezTo>
                  <a:close/>
                </a:path>
              </a:pathLst>
            </a:custGeom>
            <a:solidFill>
              <a:srgbClr val="FFFFFF"/>
            </a:solidFill>
          </p:spPr>
        </p:sp>
      </p:grpSp>
      <p:grpSp>
        <p:nvGrpSpPr>
          <p:cNvPr name="Group 4" id="4"/>
          <p:cNvGrpSpPr/>
          <p:nvPr/>
        </p:nvGrpSpPr>
        <p:grpSpPr>
          <a:xfrm rot="0">
            <a:off x="981456" y="2402205"/>
            <a:ext cx="16325088" cy="5048250"/>
            <a:chOff x="0" y="0"/>
            <a:chExt cx="21766784" cy="6731000"/>
          </a:xfrm>
        </p:grpSpPr>
        <p:sp>
          <p:nvSpPr>
            <p:cNvPr name="Freeform 5" id="5"/>
            <p:cNvSpPr/>
            <p:nvPr/>
          </p:nvSpPr>
          <p:spPr>
            <a:xfrm flipH="false" flipV="false" rot="0">
              <a:off x="0" y="0"/>
              <a:ext cx="21766785" cy="6731000"/>
            </a:xfrm>
            <a:custGeom>
              <a:avLst/>
              <a:gdLst/>
              <a:ahLst/>
              <a:cxnLst/>
              <a:rect r="r" b="b" t="t" l="l"/>
              <a:pathLst>
                <a:path h="6731000" w="21766785">
                  <a:moveTo>
                    <a:pt x="0" y="0"/>
                  </a:moveTo>
                  <a:lnTo>
                    <a:pt x="21766785" y="0"/>
                  </a:lnTo>
                  <a:lnTo>
                    <a:pt x="21766785" y="6731000"/>
                  </a:lnTo>
                  <a:lnTo>
                    <a:pt x="0" y="6731000"/>
                  </a:lnTo>
                  <a:lnTo>
                    <a:pt x="0" y="0"/>
                  </a:lnTo>
                  <a:close/>
                </a:path>
              </a:pathLst>
            </a:custGeom>
            <a:blipFill>
              <a:blip r:embed="rId3"/>
              <a:stretch>
                <a:fillRect l="-2191" t="0" r="-2191" b="0"/>
              </a:stretch>
            </a:blipFill>
          </p:spPr>
        </p:sp>
      </p:grpSp>
      <p:sp>
        <p:nvSpPr>
          <p:cNvPr name="TextBox 6" id="6"/>
          <p:cNvSpPr txBox="true"/>
          <p:nvPr/>
        </p:nvSpPr>
        <p:spPr>
          <a:xfrm rot="0">
            <a:off x="1219200" y="1228725"/>
            <a:ext cx="5128498" cy="80581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Alur Praproses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Training 30 epoch</a:t>
            </a:r>
          </a:p>
        </p:txBody>
      </p:sp>
      <p:grpSp>
        <p:nvGrpSpPr>
          <p:cNvPr name="Group 3" id="3"/>
          <p:cNvGrpSpPr/>
          <p:nvPr/>
        </p:nvGrpSpPr>
        <p:grpSpPr>
          <a:xfrm rot="0">
            <a:off x="1219200" y="2388870"/>
            <a:ext cx="9144000" cy="5334000"/>
            <a:chOff x="0" y="0"/>
            <a:chExt cx="12192000" cy="7112000"/>
          </a:xfrm>
        </p:grpSpPr>
        <p:sp>
          <p:nvSpPr>
            <p:cNvPr name="Freeform 4" id="4"/>
            <p:cNvSpPr/>
            <p:nvPr/>
          </p:nvSpPr>
          <p:spPr>
            <a:xfrm flipH="false" flipV="false" rot="0">
              <a:off x="0" y="0"/>
              <a:ext cx="12192000" cy="7112000"/>
            </a:xfrm>
            <a:custGeom>
              <a:avLst/>
              <a:gdLst/>
              <a:ahLst/>
              <a:cxnLst/>
              <a:rect r="r" b="b" t="t" l="l"/>
              <a:pathLst>
                <a:path h="7112000" w="12192000">
                  <a:moveTo>
                    <a:pt x="0" y="203200"/>
                  </a:moveTo>
                  <a:cubicBezTo>
                    <a:pt x="0" y="90932"/>
                    <a:pt x="90932" y="0"/>
                    <a:pt x="203200" y="0"/>
                  </a:cubicBezTo>
                  <a:lnTo>
                    <a:pt x="11988800" y="0"/>
                  </a:lnTo>
                  <a:cubicBezTo>
                    <a:pt x="12101068" y="0"/>
                    <a:pt x="12192000" y="90932"/>
                    <a:pt x="12192000" y="203200"/>
                  </a:cubicBezTo>
                  <a:lnTo>
                    <a:pt x="12192000" y="6908800"/>
                  </a:lnTo>
                  <a:cubicBezTo>
                    <a:pt x="12192000" y="7021068"/>
                    <a:pt x="12101068" y="7112000"/>
                    <a:pt x="11988800" y="7112000"/>
                  </a:cubicBezTo>
                  <a:lnTo>
                    <a:pt x="203200" y="7112000"/>
                  </a:lnTo>
                  <a:cubicBezTo>
                    <a:pt x="90932" y="7112000"/>
                    <a:pt x="0" y="7021068"/>
                    <a:pt x="0" y="6908800"/>
                  </a:cubicBezTo>
                  <a:close/>
                </a:path>
              </a:pathLst>
            </a:custGeom>
            <a:solidFill>
              <a:srgbClr val="FFFFFF"/>
            </a:solidFill>
          </p:spPr>
        </p:sp>
      </p:grpSp>
      <p:grpSp>
        <p:nvGrpSpPr>
          <p:cNvPr name="Group 5" id="5"/>
          <p:cNvGrpSpPr/>
          <p:nvPr/>
        </p:nvGrpSpPr>
        <p:grpSpPr>
          <a:xfrm rot="0">
            <a:off x="1524000" y="2388870"/>
            <a:ext cx="8534400" cy="5334000"/>
            <a:chOff x="0" y="0"/>
            <a:chExt cx="11379200" cy="7112000"/>
          </a:xfrm>
        </p:grpSpPr>
        <p:sp>
          <p:nvSpPr>
            <p:cNvPr name="Freeform 6" id="6" descr="Kurva train dan validation loss turun selama 30 epoch, validation terbaik 2,89 di epoch 28"/>
            <p:cNvSpPr/>
            <p:nvPr/>
          </p:nvSpPr>
          <p:spPr>
            <a:xfrm flipH="false" flipV="false" rot="0">
              <a:off x="0" y="0"/>
              <a:ext cx="11379200" cy="7112000"/>
            </a:xfrm>
            <a:custGeom>
              <a:avLst/>
              <a:gdLst/>
              <a:ahLst/>
              <a:cxnLst/>
              <a:rect r="r" b="b" t="t" l="l"/>
              <a:pathLst>
                <a:path h="7112000" w="11379200">
                  <a:moveTo>
                    <a:pt x="0" y="0"/>
                  </a:moveTo>
                  <a:lnTo>
                    <a:pt x="11379200" y="0"/>
                  </a:lnTo>
                  <a:lnTo>
                    <a:pt x="11379200" y="7112000"/>
                  </a:lnTo>
                  <a:lnTo>
                    <a:pt x="0" y="7112000"/>
                  </a:lnTo>
                  <a:lnTo>
                    <a:pt x="0" y="0"/>
                  </a:lnTo>
                  <a:close/>
                </a:path>
              </a:pathLst>
            </a:custGeom>
            <a:blipFill>
              <a:blip r:embed="rId3"/>
              <a:stretch>
                <a:fillRect l="0" t="0" r="0" b="0"/>
              </a:stretch>
            </a:blipFill>
          </p:spPr>
        </p:sp>
      </p:grpSp>
      <p:sp>
        <p:nvSpPr>
          <p:cNvPr name="TextBox 7" id="7"/>
          <p:cNvSpPr txBox="true"/>
          <p:nvPr/>
        </p:nvSpPr>
        <p:spPr>
          <a:xfrm rot="0">
            <a:off x="10820400" y="4386739"/>
            <a:ext cx="6435852" cy="795337"/>
          </a:xfrm>
          <a:prstGeom prst="rect">
            <a:avLst/>
          </a:prstGeom>
        </p:spPr>
        <p:txBody>
          <a:bodyPr anchor="t" rtlCol="false" tIns="0" lIns="0" bIns="0" rIns="0">
            <a:spAutoFit/>
          </a:bodyPr>
          <a:lstStyle/>
          <a:p>
            <a:pPr algn="l">
              <a:lnSpc>
                <a:spcPts val="3262"/>
              </a:lnSpc>
            </a:pPr>
            <a:r>
              <a:rPr lang="en-US" sz="2250">
                <a:solidFill>
                  <a:srgbClr val="3D4A5C"/>
                </a:solidFill>
                <a:latin typeface="IBM Plex Sans"/>
                <a:ea typeface="IBM Plex Sans"/>
                <a:cs typeface="IBM Plex Sans"/>
                <a:sym typeface="IBM Plex Sans"/>
              </a:rPr>
              <a:t>Val loss terbaik </a:t>
            </a:r>
            <a:r>
              <a:rPr lang="en-US" sz="2250" b="true">
                <a:solidFill>
                  <a:srgbClr val="3D4A5C"/>
                </a:solidFill>
                <a:latin typeface="IBM Plex Sans Bold"/>
                <a:ea typeface="IBM Plex Sans Bold"/>
                <a:cs typeface="IBM Plex Sans Bold"/>
                <a:sym typeface="IBM Plex Sans Bold"/>
              </a:rPr>
              <a:t>2,89</a:t>
            </a:r>
            <a:r>
              <a:rPr lang="en-US" sz="2250">
                <a:solidFill>
                  <a:srgbClr val="3D4A5C"/>
                </a:solidFill>
                <a:latin typeface="IBM Plex Sans"/>
                <a:ea typeface="IBM Plex Sans"/>
                <a:cs typeface="IBM Plex Sans"/>
                <a:sym typeface="IBM Plex Sans"/>
              </a:rPr>
              <a:t> di epoch 28. Lonjakan turun di epoch 27: learning rate diturunkan scheduler.</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F6F4EE"/>
                </a:solidFill>
                <a:latin typeface="Rubik Bold"/>
                <a:ea typeface="Rubik Bold"/>
                <a:cs typeface="Rubik Bold"/>
                <a:sym typeface="Rubik Bold"/>
              </a:rPr>
              <a:t>Hasil pada 1.000 gambar uji</a:t>
            </a:r>
          </a:p>
        </p:txBody>
      </p:sp>
      <p:sp>
        <p:nvSpPr>
          <p:cNvPr name="AutoShape 3" id="3"/>
          <p:cNvSpPr/>
          <p:nvPr/>
        </p:nvSpPr>
        <p:spPr>
          <a:xfrm rot="51840">
            <a:off x="1190406" y="2555558"/>
            <a:ext cx="3791379" cy="0"/>
          </a:xfrm>
          <a:prstGeom prst="line">
            <a:avLst/>
          </a:prstGeom>
          <a:ln cap="rnd" w="28575">
            <a:solidFill>
              <a:srgbClr val="E8833A"/>
            </a:solidFill>
            <a:prstDash val="solid"/>
            <a:headEnd type="none" len="sm" w="sm"/>
            <a:tailEnd type="none" len="sm" w="sm"/>
          </a:ln>
        </p:spPr>
      </p:sp>
      <p:sp>
        <p:nvSpPr>
          <p:cNvPr name="TextBox 4" id="4"/>
          <p:cNvSpPr txBox="true"/>
          <p:nvPr/>
        </p:nvSpPr>
        <p:spPr>
          <a:xfrm rot="0">
            <a:off x="1219200" y="2766060"/>
            <a:ext cx="3845814" cy="1451610"/>
          </a:xfrm>
          <a:prstGeom prst="rect">
            <a:avLst/>
          </a:prstGeom>
        </p:spPr>
        <p:txBody>
          <a:bodyPr anchor="t" rtlCol="false" tIns="0" lIns="0" bIns="0" rIns="0">
            <a:spAutoFit/>
          </a:bodyPr>
          <a:lstStyle/>
          <a:p>
            <a:pPr algn="l">
              <a:lnSpc>
                <a:spcPts val="10080"/>
              </a:lnSpc>
            </a:pPr>
            <a:r>
              <a:rPr lang="en-US" sz="7200" b="true">
                <a:solidFill>
                  <a:srgbClr val="E8833A"/>
                </a:solidFill>
                <a:latin typeface="Rubik Bold"/>
                <a:ea typeface="Rubik Bold"/>
                <a:cs typeface="Rubik Bold"/>
                <a:sym typeface="Rubik Bold"/>
              </a:rPr>
              <a:t>0,46</a:t>
            </a:r>
          </a:p>
        </p:txBody>
      </p:sp>
      <p:sp>
        <p:nvSpPr>
          <p:cNvPr name="TextBox 5" id="5"/>
          <p:cNvSpPr txBox="true"/>
          <p:nvPr/>
        </p:nvSpPr>
        <p:spPr>
          <a:xfrm rot="0">
            <a:off x="1219200" y="4217670"/>
            <a:ext cx="3845814" cy="476250"/>
          </a:xfrm>
          <a:prstGeom prst="rect">
            <a:avLst/>
          </a:prstGeom>
        </p:spPr>
        <p:txBody>
          <a:bodyPr anchor="t" rtlCol="false" tIns="0" lIns="0" bIns="0" rIns="0">
            <a:spAutoFit/>
          </a:bodyPr>
          <a:lstStyle/>
          <a:p>
            <a:pPr algn="l">
              <a:lnSpc>
                <a:spcPts val="3149"/>
              </a:lnSpc>
            </a:pPr>
            <a:r>
              <a:rPr lang="en-US" sz="2250">
                <a:solidFill>
                  <a:srgbClr val="C9D3E3"/>
                </a:solidFill>
                <a:latin typeface="IBM Plex Sans"/>
                <a:ea typeface="IBM Plex Sans"/>
                <a:cs typeface="IBM Plex Sans"/>
                <a:sym typeface="IBM Plex Sans"/>
              </a:rPr>
              <a:t>BLEU-1 · kecocokan per kata</a:t>
            </a:r>
          </a:p>
        </p:txBody>
      </p:sp>
      <p:sp>
        <p:nvSpPr>
          <p:cNvPr name="AutoShape 6" id="6"/>
          <p:cNvSpPr/>
          <p:nvPr/>
        </p:nvSpPr>
        <p:spPr>
          <a:xfrm rot="51840">
            <a:off x="5229006" y="2555558"/>
            <a:ext cx="3791379" cy="0"/>
          </a:xfrm>
          <a:prstGeom prst="line">
            <a:avLst/>
          </a:prstGeom>
          <a:ln cap="rnd" w="28575">
            <a:solidFill>
              <a:srgbClr val="E8833A"/>
            </a:solidFill>
            <a:prstDash val="solid"/>
            <a:headEnd type="none" len="sm" w="sm"/>
            <a:tailEnd type="none" len="sm" w="sm"/>
          </a:ln>
        </p:spPr>
      </p:sp>
      <p:sp>
        <p:nvSpPr>
          <p:cNvPr name="TextBox 7" id="7"/>
          <p:cNvSpPr txBox="true"/>
          <p:nvPr/>
        </p:nvSpPr>
        <p:spPr>
          <a:xfrm rot="0">
            <a:off x="5257800" y="2766060"/>
            <a:ext cx="3845814" cy="1451610"/>
          </a:xfrm>
          <a:prstGeom prst="rect">
            <a:avLst/>
          </a:prstGeom>
        </p:spPr>
        <p:txBody>
          <a:bodyPr anchor="t" rtlCol="false" tIns="0" lIns="0" bIns="0" rIns="0">
            <a:spAutoFit/>
          </a:bodyPr>
          <a:lstStyle/>
          <a:p>
            <a:pPr algn="l">
              <a:lnSpc>
                <a:spcPts val="10080"/>
              </a:lnSpc>
            </a:pPr>
            <a:r>
              <a:rPr lang="en-US" sz="7200" b="true">
                <a:solidFill>
                  <a:srgbClr val="E8833A"/>
                </a:solidFill>
                <a:latin typeface="Rubik Bold"/>
                <a:ea typeface="Rubik Bold"/>
                <a:cs typeface="Rubik Bold"/>
                <a:sym typeface="Rubik Bold"/>
              </a:rPr>
              <a:t>0,09</a:t>
            </a:r>
          </a:p>
        </p:txBody>
      </p:sp>
      <p:sp>
        <p:nvSpPr>
          <p:cNvPr name="TextBox 8" id="8"/>
          <p:cNvSpPr txBox="true"/>
          <p:nvPr/>
        </p:nvSpPr>
        <p:spPr>
          <a:xfrm rot="0">
            <a:off x="5257800" y="4217670"/>
            <a:ext cx="3845814" cy="381000"/>
          </a:xfrm>
          <a:prstGeom prst="rect">
            <a:avLst/>
          </a:prstGeom>
        </p:spPr>
        <p:txBody>
          <a:bodyPr anchor="t" rtlCol="false" tIns="0" lIns="0" bIns="0" rIns="0">
            <a:spAutoFit/>
          </a:bodyPr>
          <a:lstStyle/>
          <a:p>
            <a:pPr algn="l">
              <a:lnSpc>
                <a:spcPts val="3149"/>
              </a:lnSpc>
            </a:pPr>
            <a:r>
              <a:rPr lang="en-US" sz="2250">
                <a:solidFill>
                  <a:srgbClr val="C9D3E3"/>
                </a:solidFill>
                <a:latin typeface="IBM Plex Sans"/>
                <a:ea typeface="IBM Plex Sans"/>
                <a:cs typeface="IBM Plex Sans"/>
                <a:sym typeface="IBM Plex Sans"/>
              </a:rPr>
              <a:t>BLEU-4 · rangkaian 4 kata</a:t>
            </a:r>
          </a:p>
        </p:txBody>
      </p:sp>
      <p:sp>
        <p:nvSpPr>
          <p:cNvPr name="AutoShape 9" id="9"/>
          <p:cNvSpPr/>
          <p:nvPr/>
        </p:nvSpPr>
        <p:spPr>
          <a:xfrm rot="51840">
            <a:off x="9267606" y="2555558"/>
            <a:ext cx="3791379" cy="0"/>
          </a:xfrm>
          <a:prstGeom prst="line">
            <a:avLst/>
          </a:prstGeom>
          <a:ln cap="rnd" w="28575">
            <a:solidFill>
              <a:srgbClr val="E8833A"/>
            </a:solidFill>
            <a:prstDash val="solid"/>
            <a:headEnd type="none" len="sm" w="sm"/>
            <a:tailEnd type="none" len="sm" w="sm"/>
          </a:ln>
        </p:spPr>
      </p:sp>
      <p:sp>
        <p:nvSpPr>
          <p:cNvPr name="TextBox 10" id="10"/>
          <p:cNvSpPr txBox="true"/>
          <p:nvPr/>
        </p:nvSpPr>
        <p:spPr>
          <a:xfrm rot="0">
            <a:off x="9296400" y="2766060"/>
            <a:ext cx="3845814" cy="1451610"/>
          </a:xfrm>
          <a:prstGeom prst="rect">
            <a:avLst/>
          </a:prstGeom>
        </p:spPr>
        <p:txBody>
          <a:bodyPr anchor="t" rtlCol="false" tIns="0" lIns="0" bIns="0" rIns="0">
            <a:spAutoFit/>
          </a:bodyPr>
          <a:lstStyle/>
          <a:p>
            <a:pPr algn="l">
              <a:lnSpc>
                <a:spcPts val="10080"/>
              </a:lnSpc>
            </a:pPr>
            <a:r>
              <a:rPr lang="en-US" sz="7200" b="true">
                <a:solidFill>
                  <a:srgbClr val="E8833A"/>
                </a:solidFill>
                <a:latin typeface="Rubik Bold"/>
                <a:ea typeface="Rubik Bold"/>
                <a:cs typeface="Rubik Bold"/>
                <a:sym typeface="Rubik Bold"/>
              </a:rPr>
              <a:t>0,30</a:t>
            </a:r>
          </a:p>
        </p:txBody>
      </p:sp>
      <p:sp>
        <p:nvSpPr>
          <p:cNvPr name="TextBox 11" id="11"/>
          <p:cNvSpPr txBox="true"/>
          <p:nvPr/>
        </p:nvSpPr>
        <p:spPr>
          <a:xfrm rot="0">
            <a:off x="9296400" y="4217670"/>
            <a:ext cx="3845814" cy="781050"/>
          </a:xfrm>
          <a:prstGeom prst="rect">
            <a:avLst/>
          </a:prstGeom>
        </p:spPr>
        <p:txBody>
          <a:bodyPr anchor="t" rtlCol="false" tIns="0" lIns="0" bIns="0" rIns="0">
            <a:spAutoFit/>
          </a:bodyPr>
          <a:lstStyle/>
          <a:p>
            <a:pPr algn="l">
              <a:lnSpc>
                <a:spcPts val="3149"/>
              </a:lnSpc>
            </a:pPr>
            <a:r>
              <a:rPr lang="en-US" sz="2250">
                <a:solidFill>
                  <a:srgbClr val="C9D3E3"/>
                </a:solidFill>
                <a:latin typeface="IBM Plex Sans"/>
                <a:ea typeface="IBM Plex Sans"/>
                <a:cs typeface="IBM Plex Sans"/>
                <a:sym typeface="IBM Plex Sans"/>
              </a:rPr>
              <a:t>METEOR · Kata yang tepat/Sinonim</a:t>
            </a:r>
          </a:p>
        </p:txBody>
      </p:sp>
      <p:sp>
        <p:nvSpPr>
          <p:cNvPr name="AutoShape 12" id="12"/>
          <p:cNvSpPr/>
          <p:nvPr/>
        </p:nvSpPr>
        <p:spPr>
          <a:xfrm rot="51840">
            <a:off x="13306206" y="2555558"/>
            <a:ext cx="3791379" cy="0"/>
          </a:xfrm>
          <a:prstGeom prst="line">
            <a:avLst/>
          </a:prstGeom>
          <a:ln cap="rnd" w="28575">
            <a:solidFill>
              <a:srgbClr val="E8833A"/>
            </a:solidFill>
            <a:prstDash val="solid"/>
            <a:headEnd type="none" len="sm" w="sm"/>
            <a:tailEnd type="none" len="sm" w="sm"/>
          </a:ln>
        </p:spPr>
      </p:sp>
      <p:sp>
        <p:nvSpPr>
          <p:cNvPr name="TextBox 13" id="13"/>
          <p:cNvSpPr txBox="true"/>
          <p:nvPr/>
        </p:nvSpPr>
        <p:spPr>
          <a:xfrm rot="0">
            <a:off x="13335000" y="2766060"/>
            <a:ext cx="3845814" cy="1451610"/>
          </a:xfrm>
          <a:prstGeom prst="rect">
            <a:avLst/>
          </a:prstGeom>
        </p:spPr>
        <p:txBody>
          <a:bodyPr anchor="t" rtlCol="false" tIns="0" lIns="0" bIns="0" rIns="0">
            <a:spAutoFit/>
          </a:bodyPr>
          <a:lstStyle/>
          <a:p>
            <a:pPr algn="l">
              <a:lnSpc>
                <a:spcPts val="10080"/>
              </a:lnSpc>
            </a:pPr>
            <a:r>
              <a:rPr lang="en-US" sz="7200" b="true">
                <a:solidFill>
                  <a:srgbClr val="E8833A"/>
                </a:solidFill>
                <a:latin typeface="Rubik Bold"/>
                <a:ea typeface="Rubik Bold"/>
                <a:cs typeface="Rubik Bold"/>
                <a:sym typeface="Rubik Bold"/>
              </a:rPr>
              <a:t>0,31</a:t>
            </a:r>
          </a:p>
        </p:txBody>
      </p:sp>
      <p:sp>
        <p:nvSpPr>
          <p:cNvPr name="TextBox 14" id="14"/>
          <p:cNvSpPr txBox="true"/>
          <p:nvPr/>
        </p:nvSpPr>
        <p:spPr>
          <a:xfrm rot="0">
            <a:off x="13335000" y="4217670"/>
            <a:ext cx="3845814" cy="381000"/>
          </a:xfrm>
          <a:prstGeom prst="rect">
            <a:avLst/>
          </a:prstGeom>
        </p:spPr>
        <p:txBody>
          <a:bodyPr anchor="t" rtlCol="false" tIns="0" lIns="0" bIns="0" rIns="0">
            <a:spAutoFit/>
          </a:bodyPr>
          <a:lstStyle/>
          <a:p>
            <a:pPr algn="l">
              <a:lnSpc>
                <a:spcPts val="3149"/>
              </a:lnSpc>
            </a:pPr>
            <a:r>
              <a:rPr lang="en-US" sz="2250">
                <a:solidFill>
                  <a:srgbClr val="C9D3E3"/>
                </a:solidFill>
                <a:latin typeface="IBM Plex Sans"/>
                <a:ea typeface="IBM Plex Sans"/>
                <a:cs typeface="IBM Plex Sans"/>
                <a:sym typeface="IBM Plex Sans"/>
              </a:rPr>
              <a:t>CIDEr - Informasi Spesifik</a:t>
            </a:r>
          </a:p>
        </p:txBody>
      </p:sp>
      <p:sp>
        <p:nvSpPr>
          <p:cNvPr name="TextBox 15" id="15"/>
          <p:cNvSpPr txBox="true"/>
          <p:nvPr/>
        </p:nvSpPr>
        <p:spPr>
          <a:xfrm rot="0">
            <a:off x="1219200" y="5141595"/>
            <a:ext cx="16325088" cy="555307"/>
          </a:xfrm>
          <a:prstGeom prst="rect">
            <a:avLst/>
          </a:prstGeom>
        </p:spPr>
        <p:txBody>
          <a:bodyPr anchor="t" rtlCol="false" tIns="0" lIns="0" bIns="0" rIns="0">
            <a:spAutoFit/>
          </a:bodyPr>
          <a:lstStyle/>
          <a:p>
            <a:pPr algn="l">
              <a:lnSpc>
                <a:spcPts val="3697"/>
              </a:lnSpc>
            </a:pPr>
            <a:r>
              <a:rPr lang="en-US" sz="2550">
                <a:solidFill>
                  <a:srgbClr val="F6F4EE"/>
                </a:solidFill>
                <a:latin typeface="IBM Plex Sans"/>
                <a:ea typeface="IBM Plex Sans"/>
                <a:cs typeface="IBM Plex Sans"/>
                <a:sym typeface="IBM Plex Sans"/>
              </a:rPr>
              <a:t>Contoh: </a:t>
            </a:r>
            <a:r>
              <a:rPr lang="en-US" sz="2550" i="true">
                <a:solidFill>
                  <a:srgbClr val="F6F4EE"/>
                </a:solidFill>
                <a:latin typeface="IBM Plex Sans Italics"/>
                <a:ea typeface="IBM Plex Sans Italics"/>
                <a:cs typeface="IBM Plex Sans Italics"/>
                <a:sym typeface="IBM Plex Sans Italics"/>
              </a:rPr>
              <a:t>“a man in a white shirt is standing on a rock overlooking a river”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Tuning: loss terendah ≠ caption terbaik</a:t>
            </a:r>
          </a:p>
        </p:txBody>
      </p:sp>
      <p:graphicFrame>
        <p:nvGraphicFramePr>
          <p:cNvPr name="Table 3" id="3"/>
          <p:cNvGraphicFramePr>
            <a:graphicFrameLocks noGrp="true"/>
          </p:cNvGraphicFramePr>
          <p:nvPr/>
        </p:nvGraphicFramePr>
        <p:xfrm>
          <a:off x="1234440" y="2366009"/>
          <a:ext cx="15754350" cy="2289175"/>
        </p:xfrm>
        <a:graphic>
          <a:graphicData uri="http://schemas.openxmlformats.org/drawingml/2006/table">
            <a:tbl>
              <a:tblPr/>
              <a:tblGrid>
                <a:gridCol w="5330260"/>
                <a:gridCol w="2528187"/>
                <a:gridCol w="2528187"/>
                <a:gridCol w="2528187"/>
                <a:gridCol w="2839529"/>
              </a:tblGrid>
              <a:tr h="571496">
                <a:tc>
                  <a:txBody>
                    <a:bodyPr anchor="t" rtlCol="false"/>
                    <a:lstStyle/>
                    <a:p>
                      <a:pPr algn="l">
                        <a:lnSpc>
                          <a:spcPts val="2940"/>
                        </a:lnSpc>
                        <a:defRPr/>
                      </a:pPr>
                      <a:r>
                        <a:rPr lang="en-US" sz="2100" b="true">
                          <a:solidFill>
                            <a:srgbClr val="F6F4EE"/>
                          </a:solidFill>
                          <a:latin typeface="IBM Plex Sans Bold"/>
                          <a:ea typeface="IBM Plex Sans Bold"/>
                          <a:cs typeface="IBM Plex Sans Bold"/>
                          <a:sym typeface="IBM Plex Sans Bold"/>
                        </a:rPr>
                        <a:t>Percobaan</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141E3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141E34"/>
                      </a:solidFill>
                      <a:prstDash val="solid"/>
                      <a:round/>
                      <a:headEnd type="none" w="med" len="med"/>
                      <a:tailEnd type="none" w="med" len="med"/>
                    </a:lnB>
                    <a:solidFill>
                      <a:srgbClr val="14213D"/>
                    </a:solidFill>
                  </a:tcPr>
                </a:tc>
                <a:tc>
                  <a:txBody>
                    <a:bodyPr anchor="t" rtlCol="false"/>
                    <a:lstStyle/>
                    <a:p>
                      <a:pPr algn="l">
                        <a:lnSpc>
                          <a:spcPts val="2940"/>
                        </a:lnSpc>
                        <a:defRPr/>
                      </a:pPr>
                      <a:r>
                        <a:rPr lang="en-US" sz="2100" b="true">
                          <a:solidFill>
                            <a:srgbClr val="F6F4EE"/>
                          </a:solidFill>
                          <a:latin typeface="IBM Plex Sans Bold"/>
                          <a:ea typeface="IBM Plex Sans Bold"/>
                          <a:cs typeface="IBM Plex Sans Bold"/>
                          <a:sym typeface="IBM Plex Sans Bold"/>
                        </a:rPr>
                        <a:t>Val loss</a:t>
                      </a:r>
                      <a:endParaRPr lang="en-US" sz="1100"/>
                    </a:p>
                  </a:txBody>
                  <a:tcPr marL="62230" marR="62230" marT="62230" marB="62230" anchor="t">
                    <a:lnL cmpd="sng" algn="ctr" cap="flat" w="12700">
                      <a:solidFill>
                        <a:srgbClr val="141E34"/>
                      </a:solidFill>
                      <a:prstDash val="solid"/>
                      <a:round/>
                      <a:headEnd type="none" w="med" len="med"/>
                      <a:tailEnd type="none" w="med" len="med"/>
                    </a:lnL>
                    <a:lnR cmpd="sng" algn="ctr" cap="flat" w="12700">
                      <a:solidFill>
                        <a:srgbClr val="141E3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141E34"/>
                      </a:solidFill>
                      <a:prstDash val="solid"/>
                      <a:round/>
                      <a:headEnd type="none" w="med" len="med"/>
                      <a:tailEnd type="none" w="med" len="med"/>
                    </a:lnB>
                    <a:solidFill>
                      <a:srgbClr val="14213D"/>
                    </a:solidFill>
                  </a:tcPr>
                </a:tc>
                <a:tc>
                  <a:txBody>
                    <a:bodyPr anchor="t" rtlCol="false"/>
                    <a:lstStyle/>
                    <a:p>
                      <a:pPr algn="l">
                        <a:lnSpc>
                          <a:spcPts val="2940"/>
                        </a:lnSpc>
                        <a:defRPr/>
                      </a:pPr>
                      <a:r>
                        <a:rPr lang="en-US" sz="2100" b="true">
                          <a:solidFill>
                            <a:srgbClr val="F6F4EE"/>
                          </a:solidFill>
                          <a:latin typeface="IBM Plex Sans Bold"/>
                          <a:ea typeface="IBM Plex Sans Bold"/>
                          <a:cs typeface="IBM Plex Sans Bold"/>
                          <a:sym typeface="IBM Plex Sans Bold"/>
                        </a:rPr>
                        <a:t>BLEU-4</a:t>
                      </a:r>
                      <a:endParaRPr lang="en-US" sz="1100"/>
                    </a:p>
                  </a:txBody>
                  <a:tcPr marL="62230" marR="62230" marT="62230" marB="62230" anchor="t">
                    <a:lnL cmpd="sng" algn="ctr" cap="flat" w="12700">
                      <a:solidFill>
                        <a:srgbClr val="141E34"/>
                      </a:solidFill>
                      <a:prstDash val="solid"/>
                      <a:round/>
                      <a:headEnd type="none" w="med" len="med"/>
                      <a:tailEnd type="none" w="med" len="med"/>
                    </a:lnL>
                    <a:lnR cmpd="sng" algn="ctr" cap="flat" w="12700">
                      <a:solidFill>
                        <a:srgbClr val="141E3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141E34"/>
                      </a:solidFill>
                      <a:prstDash val="solid"/>
                      <a:round/>
                      <a:headEnd type="none" w="med" len="med"/>
                      <a:tailEnd type="none" w="med" len="med"/>
                    </a:lnB>
                    <a:solidFill>
                      <a:srgbClr val="14213D"/>
                    </a:solidFill>
                  </a:tcPr>
                </a:tc>
                <a:tc>
                  <a:txBody>
                    <a:bodyPr anchor="t" rtlCol="false"/>
                    <a:lstStyle/>
                    <a:p>
                      <a:pPr algn="l">
                        <a:lnSpc>
                          <a:spcPts val="2940"/>
                        </a:lnSpc>
                        <a:defRPr/>
                      </a:pPr>
                      <a:r>
                        <a:rPr lang="en-US" sz="2100" b="true">
                          <a:solidFill>
                            <a:srgbClr val="F6F4EE"/>
                          </a:solidFill>
                          <a:latin typeface="IBM Plex Sans Bold"/>
                          <a:ea typeface="IBM Plex Sans Bold"/>
                          <a:cs typeface="IBM Plex Sans Bold"/>
                          <a:sym typeface="IBM Plex Sans Bold"/>
                        </a:rPr>
                        <a:t>CIDEr</a:t>
                      </a:r>
                      <a:endParaRPr lang="en-US" sz="1100"/>
                    </a:p>
                  </a:txBody>
                  <a:tcPr marL="62230" marR="62230" marT="62230" marB="62230" anchor="t">
                    <a:lnL cmpd="sng" algn="ctr" cap="flat" w="12700">
                      <a:solidFill>
                        <a:srgbClr val="141E34"/>
                      </a:solidFill>
                      <a:prstDash val="solid"/>
                      <a:round/>
                      <a:headEnd type="none" w="med" len="med"/>
                      <a:tailEnd type="none" w="med" len="med"/>
                    </a:lnL>
                    <a:lnR cmpd="sng" algn="ctr" cap="flat" w="12700">
                      <a:solidFill>
                        <a:srgbClr val="141E3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141E34"/>
                      </a:solidFill>
                      <a:prstDash val="solid"/>
                      <a:round/>
                      <a:headEnd type="none" w="med" len="med"/>
                      <a:tailEnd type="none" w="med" len="med"/>
                    </a:lnB>
                    <a:solidFill>
                      <a:srgbClr val="14213D"/>
                    </a:solidFill>
                  </a:tcPr>
                </a:tc>
                <a:tc>
                  <a:txBody>
                    <a:bodyPr anchor="t" rtlCol="false"/>
                    <a:lstStyle/>
                    <a:p>
                      <a:pPr algn="l">
                        <a:lnSpc>
                          <a:spcPts val="2940"/>
                        </a:lnSpc>
                        <a:defRPr/>
                      </a:pPr>
                      <a:r>
                        <a:rPr lang="en-US" sz="2100" b="true">
                          <a:solidFill>
                            <a:srgbClr val="F6F4EE"/>
                          </a:solidFill>
                          <a:latin typeface="IBM Plex Sans Bold"/>
                          <a:ea typeface="IBM Plex Sans Bold"/>
                          <a:cs typeface="IBM Plex Sans Bold"/>
                          <a:sym typeface="IBM Plex Sans Bold"/>
                        </a:rPr>
                        <a:t>Temuan</a:t>
                      </a:r>
                      <a:endParaRPr lang="en-US" sz="1100"/>
                    </a:p>
                  </a:txBody>
                  <a:tcPr marL="62230" marR="62230" marT="62230" marB="62230" anchor="t">
                    <a:lnL cmpd="sng" algn="ctr" cap="flat" w="12700">
                      <a:solidFill>
                        <a:srgbClr val="141E34"/>
                      </a:solidFill>
                      <a:prstDash val="solid"/>
                      <a:round/>
                      <a:headEnd type="none" w="med" len="med"/>
                      <a:tailEnd type="none" w="med" len="med"/>
                    </a:lnL>
                    <a:lnR cmpd="sng" algn="ctr" cap="flat" w="12700">
                      <a:solidFill>
                        <a:srgbClr val="141E3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141E34"/>
                      </a:solidFill>
                      <a:prstDash val="solid"/>
                      <a:round/>
                      <a:headEnd type="none" w="med" len="med"/>
                      <a:tailEnd type="none" w="med" len="med"/>
                    </a:lnB>
                    <a:solidFill>
                      <a:srgbClr val="14213D"/>
                    </a:solidFill>
                  </a:tcPr>
                </a:tc>
              </a:tr>
              <a:tr h="574688">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exp01 · lr 1e-3, dropout 0,3</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141E3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2,89 terbaik</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141E3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0,092</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141E3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0,309</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141E3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Model final</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141E3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571496">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exp02 · lr 5e-4</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BFBCB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BFBCB4"/>
                      </a:solidFill>
                      <a:prstDash val="solid"/>
                      <a:round/>
                      <a:headEnd type="none" w="med" len="med"/>
                      <a:tailEnd type="none" w="med" len="med"/>
                    </a:lnB>
                    <a:solidFill>
                      <a:srgbClr val="EFEBE1"/>
                    </a:solidFill>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2,98</a:t>
                      </a:r>
                      <a:endParaRPr lang="en-US" sz="1100"/>
                    </a:p>
                  </a:txBody>
                  <a:tcPr marL="62230" marR="62230" marT="62230" marB="62230" anchor="t">
                    <a:lnL cmpd="sng" algn="ctr" cap="flat" w="12700">
                      <a:solidFill>
                        <a:srgbClr val="BFBCB4"/>
                      </a:solidFill>
                      <a:prstDash val="solid"/>
                      <a:round/>
                      <a:headEnd type="none" w="med" len="med"/>
                      <a:tailEnd type="none" w="med" len="med"/>
                    </a:lnL>
                    <a:lnR cmpd="sng" algn="ctr" cap="flat" w="12700">
                      <a:solidFill>
                        <a:srgbClr val="BFBCB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BFBCB4"/>
                      </a:solidFill>
                      <a:prstDash val="solid"/>
                      <a:round/>
                      <a:headEnd type="none" w="med" len="med"/>
                      <a:tailEnd type="none" w="med" len="med"/>
                    </a:lnB>
                    <a:solidFill>
                      <a:srgbClr val="EFEBE1"/>
                    </a:solidFill>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0,105 terbaik</a:t>
                      </a:r>
                      <a:endParaRPr lang="en-US" sz="1100"/>
                    </a:p>
                  </a:txBody>
                  <a:tcPr marL="62230" marR="62230" marT="62230" marB="62230" anchor="t">
                    <a:lnL cmpd="sng" algn="ctr" cap="flat" w="12700">
                      <a:solidFill>
                        <a:srgbClr val="BFBCB4"/>
                      </a:solidFill>
                      <a:prstDash val="solid"/>
                      <a:round/>
                      <a:headEnd type="none" w="med" len="med"/>
                      <a:tailEnd type="none" w="med" len="med"/>
                    </a:lnL>
                    <a:lnR cmpd="sng" algn="ctr" cap="flat" w="12700">
                      <a:solidFill>
                        <a:srgbClr val="BFBCB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BFBCB4"/>
                      </a:solidFill>
                      <a:prstDash val="solid"/>
                      <a:round/>
                      <a:headEnd type="none" w="med" len="med"/>
                      <a:tailEnd type="none" w="med" len="med"/>
                    </a:lnB>
                    <a:solidFill>
                      <a:srgbClr val="EFEBE1"/>
                    </a:solidFill>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0,359 terbaik</a:t>
                      </a:r>
                      <a:endParaRPr lang="en-US" sz="1100"/>
                    </a:p>
                  </a:txBody>
                  <a:tcPr marL="62230" marR="62230" marT="62230" marB="62230" anchor="t">
                    <a:lnL cmpd="sng" algn="ctr" cap="flat" w="12700">
                      <a:solidFill>
                        <a:srgbClr val="BFBCB4"/>
                      </a:solidFill>
                      <a:prstDash val="solid"/>
                      <a:round/>
                      <a:headEnd type="none" w="med" len="med"/>
                      <a:tailEnd type="none" w="med" len="med"/>
                    </a:lnL>
                    <a:lnR cmpd="sng" algn="ctr" cap="flat" w="12700">
                      <a:solidFill>
                        <a:srgbClr val="BFBCB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BFBCB4"/>
                      </a:solidFill>
                      <a:prstDash val="solid"/>
                      <a:round/>
                      <a:headEnd type="none" w="med" len="med"/>
                      <a:tailEnd type="none" w="med" len="med"/>
                    </a:lnB>
                    <a:solidFill>
                      <a:srgbClr val="EFEBE1"/>
                    </a:solidFill>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Cepat overfit</a:t>
                      </a:r>
                      <a:endParaRPr lang="en-US" sz="1100"/>
                    </a:p>
                  </a:txBody>
                  <a:tcPr marL="62230" marR="62230" marT="62230" marB="62230" anchor="t">
                    <a:lnL cmpd="sng" algn="ctr" cap="flat" w="12700">
                      <a:solidFill>
                        <a:srgbClr val="BFBCB4"/>
                      </a:solidFill>
                      <a:prstDash val="solid"/>
                      <a:round/>
                      <a:headEnd type="none" w="med" len="med"/>
                      <a:tailEnd type="none" w="med" len="med"/>
                    </a:lnL>
                    <a:lnR cmpd="sng" algn="ctr" cap="flat" w="12700">
                      <a:solidFill>
                        <a:srgbClr val="BFBCB4"/>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BFBCB4"/>
                      </a:solidFill>
                      <a:prstDash val="solid"/>
                      <a:round/>
                      <a:headEnd type="none" w="med" len="med"/>
                      <a:tailEnd type="none" w="med" len="med"/>
                    </a:lnB>
                    <a:solidFill>
                      <a:srgbClr val="EFEBE1"/>
                    </a:solidFill>
                  </a:tcPr>
                </a:tc>
              </a:tr>
              <a:tr h="571496">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exp03 · dropout 0,5</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FBCB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2,95</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FBCB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0,099</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FBCB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0,329</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FBCB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2940"/>
                        </a:lnSpc>
                        <a:defRPr/>
                      </a:pPr>
                      <a:r>
                        <a:rPr lang="en-US" sz="2100">
                          <a:solidFill>
                            <a:srgbClr val="3D4A5C"/>
                          </a:solidFill>
                          <a:latin typeface="IBM Plex Sans"/>
                          <a:ea typeface="IBM Plex Sans"/>
                          <a:cs typeface="IBM Plex Sans"/>
                          <a:sym typeface="IBM Plex Sans"/>
                        </a:rPr>
                        <a:t>Paling stabil</a:t>
                      </a:r>
                      <a:endParaRPr lang="en-US" sz="1100"/>
                    </a:p>
                  </a:txBody>
                  <a:tcPr marL="62230" marR="62230" marT="62230" marB="62230" anchor="t">
                    <a:lnL cmpd="sng" algn="ctr" cap="flat" w="12700">
                      <a:solidFill>
                        <a:srgbClr val="C4C3BE"/>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FBCB4"/>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bl>
          </a:graphicData>
        </a:graphic>
      </p:graphicFrame>
      <p:grpSp>
        <p:nvGrpSpPr>
          <p:cNvPr name="Group 4" id="4"/>
          <p:cNvGrpSpPr/>
          <p:nvPr/>
        </p:nvGrpSpPr>
        <p:grpSpPr>
          <a:xfrm rot="0">
            <a:off x="1219200" y="5010150"/>
            <a:ext cx="15849600" cy="3619500"/>
            <a:chOff x="0" y="0"/>
            <a:chExt cx="21132800" cy="4826000"/>
          </a:xfrm>
        </p:grpSpPr>
        <p:sp>
          <p:nvSpPr>
            <p:cNvPr name="Freeform 5" id="5"/>
            <p:cNvSpPr/>
            <p:nvPr/>
          </p:nvSpPr>
          <p:spPr>
            <a:xfrm flipH="false" flipV="false" rot="0">
              <a:off x="0" y="0"/>
              <a:ext cx="21132800" cy="4826000"/>
            </a:xfrm>
            <a:custGeom>
              <a:avLst/>
              <a:gdLst/>
              <a:ahLst/>
              <a:cxnLst/>
              <a:rect r="r" b="b" t="t" l="l"/>
              <a:pathLst>
                <a:path h="4826000" w="21132800">
                  <a:moveTo>
                    <a:pt x="0" y="203200"/>
                  </a:moveTo>
                  <a:cubicBezTo>
                    <a:pt x="0" y="90932"/>
                    <a:pt x="90932" y="0"/>
                    <a:pt x="203200" y="0"/>
                  </a:cubicBezTo>
                  <a:lnTo>
                    <a:pt x="20929600" y="0"/>
                  </a:lnTo>
                  <a:cubicBezTo>
                    <a:pt x="21041868" y="0"/>
                    <a:pt x="21132800" y="90932"/>
                    <a:pt x="21132800" y="203200"/>
                  </a:cubicBezTo>
                  <a:lnTo>
                    <a:pt x="21132800" y="4622800"/>
                  </a:lnTo>
                  <a:cubicBezTo>
                    <a:pt x="21132800" y="4735068"/>
                    <a:pt x="21041868" y="4826000"/>
                    <a:pt x="20929600" y="4826000"/>
                  </a:cubicBezTo>
                  <a:lnTo>
                    <a:pt x="203200" y="4826000"/>
                  </a:lnTo>
                  <a:cubicBezTo>
                    <a:pt x="90932" y="4826000"/>
                    <a:pt x="0" y="4735068"/>
                    <a:pt x="0" y="4622800"/>
                  </a:cubicBezTo>
                  <a:close/>
                </a:path>
              </a:pathLst>
            </a:custGeom>
            <a:solidFill>
              <a:srgbClr val="FFFFFF"/>
            </a:solidFill>
          </p:spPr>
        </p:sp>
      </p:grpSp>
      <p:grpSp>
        <p:nvGrpSpPr>
          <p:cNvPr name="Group 6" id="6"/>
          <p:cNvGrpSpPr/>
          <p:nvPr/>
        </p:nvGrpSpPr>
        <p:grpSpPr>
          <a:xfrm rot="0">
            <a:off x="4438650" y="5010150"/>
            <a:ext cx="9410700" cy="3619500"/>
            <a:chOff x="0" y="0"/>
            <a:chExt cx="12547600" cy="4826000"/>
          </a:xfrm>
        </p:grpSpPr>
        <p:sp>
          <p:nvSpPr>
            <p:cNvPr name="Freeform 7" id="7" descr="Grafik validation dan train loss ketiga percobaan"/>
            <p:cNvSpPr/>
            <p:nvPr/>
          </p:nvSpPr>
          <p:spPr>
            <a:xfrm flipH="false" flipV="false" rot="0">
              <a:off x="0" y="0"/>
              <a:ext cx="12547600" cy="4826000"/>
            </a:xfrm>
            <a:custGeom>
              <a:avLst/>
              <a:gdLst/>
              <a:ahLst/>
              <a:cxnLst/>
              <a:rect r="r" b="b" t="t" l="l"/>
              <a:pathLst>
                <a:path h="4826000" w="12547600">
                  <a:moveTo>
                    <a:pt x="0" y="0"/>
                  </a:moveTo>
                  <a:lnTo>
                    <a:pt x="12547600" y="0"/>
                  </a:lnTo>
                  <a:lnTo>
                    <a:pt x="12547600" y="4826000"/>
                  </a:lnTo>
                  <a:lnTo>
                    <a:pt x="0" y="4826000"/>
                  </a:lnTo>
                  <a:lnTo>
                    <a:pt x="0" y="0"/>
                  </a:lnTo>
                  <a:close/>
                </a:path>
              </a:pathLst>
            </a:custGeom>
            <a:blipFill>
              <a:blip r:embed="rId3"/>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219200" y="1228725"/>
            <a:ext cx="16325088" cy="817245"/>
          </a:xfrm>
          <a:prstGeom prst="rect">
            <a:avLst/>
          </a:prstGeom>
        </p:spPr>
        <p:txBody>
          <a:bodyPr anchor="t" rtlCol="false" tIns="0" lIns="0" bIns="0" rIns="0">
            <a:spAutoFit/>
          </a:bodyPr>
          <a:lstStyle/>
          <a:p>
            <a:pPr algn="l">
              <a:lnSpc>
                <a:spcPts val="6209"/>
              </a:lnSpc>
            </a:pPr>
            <a:r>
              <a:rPr lang="en-US" sz="5400" b="true">
                <a:solidFill>
                  <a:srgbClr val="14213D"/>
                </a:solidFill>
                <a:latin typeface="Rubik Bold"/>
                <a:ea typeface="Rubik Bold"/>
                <a:cs typeface="Rubik Bold"/>
                <a:sym typeface="Rubik Bold"/>
              </a:rPr>
              <a:t>Foto yang belum pernah dilihat model</a:t>
            </a:r>
          </a:p>
        </p:txBody>
      </p:sp>
      <p:grpSp>
        <p:nvGrpSpPr>
          <p:cNvPr name="Group 3" id="3"/>
          <p:cNvGrpSpPr/>
          <p:nvPr/>
        </p:nvGrpSpPr>
        <p:grpSpPr>
          <a:xfrm rot="0">
            <a:off x="1219200" y="2350770"/>
            <a:ext cx="10477500" cy="6286500"/>
            <a:chOff x="0" y="0"/>
            <a:chExt cx="13970000" cy="8382000"/>
          </a:xfrm>
        </p:grpSpPr>
        <p:sp>
          <p:nvSpPr>
            <p:cNvPr name="Freeform 4" id="4"/>
            <p:cNvSpPr/>
            <p:nvPr/>
          </p:nvSpPr>
          <p:spPr>
            <a:xfrm flipH="false" flipV="false" rot="0">
              <a:off x="0" y="0"/>
              <a:ext cx="13970000" cy="8382000"/>
            </a:xfrm>
            <a:custGeom>
              <a:avLst/>
              <a:gdLst/>
              <a:ahLst/>
              <a:cxnLst/>
              <a:rect r="r" b="b" t="t" l="l"/>
              <a:pathLst>
                <a:path h="8382000" w="13970000">
                  <a:moveTo>
                    <a:pt x="0" y="203200"/>
                  </a:moveTo>
                  <a:cubicBezTo>
                    <a:pt x="0" y="90932"/>
                    <a:pt x="90932" y="0"/>
                    <a:pt x="203200" y="0"/>
                  </a:cubicBezTo>
                  <a:lnTo>
                    <a:pt x="13766800" y="0"/>
                  </a:lnTo>
                  <a:cubicBezTo>
                    <a:pt x="13879068" y="0"/>
                    <a:pt x="13970000" y="90932"/>
                    <a:pt x="13970000" y="203200"/>
                  </a:cubicBezTo>
                  <a:lnTo>
                    <a:pt x="13970000" y="8178800"/>
                  </a:lnTo>
                  <a:cubicBezTo>
                    <a:pt x="13970000" y="8291068"/>
                    <a:pt x="13879068" y="8382000"/>
                    <a:pt x="13766800" y="8382000"/>
                  </a:cubicBezTo>
                  <a:lnTo>
                    <a:pt x="203200" y="8382000"/>
                  </a:lnTo>
                  <a:cubicBezTo>
                    <a:pt x="90932" y="8382000"/>
                    <a:pt x="0" y="8291068"/>
                    <a:pt x="0" y="8178800"/>
                  </a:cubicBezTo>
                  <a:close/>
                </a:path>
              </a:pathLst>
            </a:custGeom>
            <a:solidFill>
              <a:srgbClr val="FFFFFF"/>
            </a:solidFill>
          </p:spPr>
        </p:sp>
      </p:grpSp>
      <p:grpSp>
        <p:nvGrpSpPr>
          <p:cNvPr name="Group 5" id="5"/>
          <p:cNvGrpSpPr/>
          <p:nvPr/>
        </p:nvGrpSpPr>
        <p:grpSpPr>
          <a:xfrm rot="0">
            <a:off x="1314193" y="2350770"/>
            <a:ext cx="10287524" cy="6286500"/>
            <a:chOff x="0" y="0"/>
            <a:chExt cx="13716698" cy="8382000"/>
          </a:xfrm>
        </p:grpSpPr>
        <p:sp>
          <p:nvSpPr>
            <p:cNvPr name="Freeform 6" id="6" descr="Enam foto uji beserta caption hasil model, termasuk anjing di rumput dan anak di kolam bola"/>
            <p:cNvSpPr/>
            <p:nvPr/>
          </p:nvSpPr>
          <p:spPr>
            <a:xfrm flipH="false" flipV="false" rot="0">
              <a:off x="0" y="0"/>
              <a:ext cx="13716636" cy="8382000"/>
            </a:xfrm>
            <a:custGeom>
              <a:avLst/>
              <a:gdLst/>
              <a:ahLst/>
              <a:cxnLst/>
              <a:rect r="r" b="b" t="t" l="l"/>
              <a:pathLst>
                <a:path h="8382000" w="13716636">
                  <a:moveTo>
                    <a:pt x="0" y="0"/>
                  </a:moveTo>
                  <a:lnTo>
                    <a:pt x="13716636" y="0"/>
                  </a:lnTo>
                  <a:lnTo>
                    <a:pt x="13716636" y="8382000"/>
                  </a:lnTo>
                  <a:lnTo>
                    <a:pt x="0" y="8382000"/>
                  </a:lnTo>
                  <a:lnTo>
                    <a:pt x="0" y="0"/>
                  </a:lnTo>
                  <a:close/>
                </a:path>
              </a:pathLst>
            </a:custGeom>
            <a:blipFill>
              <a:blip r:embed="rId3"/>
              <a:stretch>
                <a:fillRect l="0" t="0" r="0" b="0"/>
              </a:stretch>
            </a:blipFill>
          </p:spPr>
        </p:sp>
      </p:grpSp>
      <p:sp>
        <p:nvSpPr>
          <p:cNvPr name="TextBox 7" id="7"/>
          <p:cNvSpPr txBox="true"/>
          <p:nvPr/>
        </p:nvSpPr>
        <p:spPr>
          <a:xfrm rot="0">
            <a:off x="12153900" y="3989070"/>
            <a:ext cx="5062347" cy="876300"/>
          </a:xfrm>
          <a:prstGeom prst="rect">
            <a:avLst/>
          </a:prstGeom>
        </p:spPr>
        <p:txBody>
          <a:bodyPr anchor="t" rtlCol="false" tIns="0" lIns="0" bIns="0" rIns="0">
            <a:spAutoFit/>
          </a:bodyPr>
          <a:lstStyle/>
          <a:p>
            <a:pPr algn="l">
              <a:lnSpc>
                <a:spcPts val="3149"/>
              </a:lnSpc>
            </a:pPr>
            <a:r>
              <a:rPr lang="en-US" sz="2250" b="true">
                <a:solidFill>
                  <a:srgbClr val="3D4A5C"/>
                </a:solidFill>
                <a:latin typeface="IBM Plex Sans Bold"/>
                <a:ea typeface="IBM Plex Sans Bold"/>
                <a:cs typeface="IBM Plex Sans Bold"/>
                <a:sym typeface="IBM Plex Sans Bold"/>
              </a:rPr>
              <a:t>Benar:</a:t>
            </a:r>
            <a:r>
              <a:rPr lang="en-US" sz="2250">
                <a:solidFill>
                  <a:srgbClr val="3D4A5C"/>
                </a:solidFill>
                <a:latin typeface="IBM Plex Sans"/>
                <a:ea typeface="IBM Plex Sans"/>
                <a:cs typeface="IBM Plex Sans"/>
                <a:sym typeface="IBM Plex Sans"/>
              </a:rPr>
              <a:t> anjing di rumput, orang di batu, trotoar</a:t>
            </a:r>
          </a:p>
        </p:txBody>
      </p:sp>
      <p:sp>
        <p:nvSpPr>
          <p:cNvPr name="TextBox 8" id="8"/>
          <p:cNvSpPr txBox="true"/>
          <p:nvPr/>
        </p:nvSpPr>
        <p:spPr>
          <a:xfrm rot="0">
            <a:off x="12153900" y="5055870"/>
            <a:ext cx="5062347" cy="876300"/>
          </a:xfrm>
          <a:prstGeom prst="rect">
            <a:avLst/>
          </a:prstGeom>
        </p:spPr>
        <p:txBody>
          <a:bodyPr anchor="t" rtlCol="false" tIns="0" lIns="0" bIns="0" rIns="0">
            <a:spAutoFit/>
          </a:bodyPr>
          <a:lstStyle/>
          <a:p>
            <a:pPr algn="l">
              <a:lnSpc>
                <a:spcPts val="3149"/>
              </a:lnSpc>
            </a:pPr>
            <a:r>
              <a:rPr lang="en-US" sz="2250" b="true">
                <a:solidFill>
                  <a:srgbClr val="3D4A5C"/>
                </a:solidFill>
                <a:latin typeface="IBM Plex Sans Bold"/>
                <a:ea typeface="IBM Plex Sans Bold"/>
                <a:cs typeface="IBM Plex Sans Bold"/>
                <a:sym typeface="IBM Plex Sans Bold"/>
              </a:rPr>
              <a:t>Salah:</a:t>
            </a:r>
            <a:r>
              <a:rPr lang="en-US" sz="2250">
                <a:solidFill>
                  <a:srgbClr val="3D4A5C"/>
                </a:solidFill>
                <a:latin typeface="IBM Plex Sans"/>
                <a:ea typeface="IBM Plex Sans"/>
                <a:cs typeface="IBM Plex Sans"/>
                <a:sym typeface="IBM Plex Sans"/>
              </a:rPr>
              <a:t> kolam bola, football (jarang di data latih)</a:t>
            </a:r>
          </a:p>
        </p:txBody>
      </p:sp>
      <p:sp>
        <p:nvSpPr>
          <p:cNvPr name="TextBox 9" id="9"/>
          <p:cNvSpPr txBox="true"/>
          <p:nvPr/>
        </p:nvSpPr>
        <p:spPr>
          <a:xfrm rot="0">
            <a:off x="12153900" y="6122670"/>
            <a:ext cx="5062347" cy="876300"/>
          </a:xfrm>
          <a:prstGeom prst="rect">
            <a:avLst/>
          </a:prstGeom>
        </p:spPr>
        <p:txBody>
          <a:bodyPr anchor="t" rtlCol="false" tIns="0" lIns="0" bIns="0" rIns="0">
            <a:spAutoFit/>
          </a:bodyPr>
          <a:lstStyle/>
          <a:p>
            <a:pPr algn="l">
              <a:lnSpc>
                <a:spcPts val="3149"/>
              </a:lnSpc>
            </a:pPr>
            <a:r>
              <a:rPr lang="en-US" sz="2250" b="true">
                <a:solidFill>
                  <a:srgbClr val="B85A1B"/>
                </a:solidFill>
                <a:latin typeface="IBM Plex Sans Bold"/>
                <a:ea typeface="IBM Plex Sans Bold"/>
                <a:cs typeface="IBM Plex Sans Bold"/>
                <a:sym typeface="IBM Plex Sans Bold"/>
              </a:rPr>
              <a:t>Demo langsung: aplikasi web, upload foto → caption muncul</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219200" y="3752850"/>
            <a:ext cx="16325088" cy="1219200"/>
          </a:xfrm>
          <a:prstGeom prst="rect">
            <a:avLst/>
          </a:prstGeom>
        </p:spPr>
        <p:txBody>
          <a:bodyPr anchor="t" rtlCol="false" tIns="0" lIns="0" bIns="0" rIns="0">
            <a:spAutoFit/>
          </a:bodyPr>
          <a:lstStyle/>
          <a:p>
            <a:pPr algn="l">
              <a:lnSpc>
                <a:spcPts val="9900"/>
              </a:lnSpc>
            </a:pPr>
            <a:r>
              <a:rPr lang="en-US" sz="9000" b="true">
                <a:solidFill>
                  <a:srgbClr val="F6F4EE"/>
                </a:solidFill>
                <a:latin typeface="Rubik Bold"/>
                <a:ea typeface="Rubik Bold"/>
                <a:cs typeface="Rubik Bold"/>
                <a:sym typeface="Rubik Bold"/>
              </a:rPr>
              <a:t>Terima kasih</a:t>
            </a:r>
          </a:p>
        </p:txBody>
      </p:sp>
      <p:sp>
        <p:nvSpPr>
          <p:cNvPr name="TextBox 3" id="3"/>
          <p:cNvSpPr txBox="true"/>
          <p:nvPr/>
        </p:nvSpPr>
        <p:spPr>
          <a:xfrm rot="0">
            <a:off x="1219200" y="5332735"/>
            <a:ext cx="16325088" cy="476250"/>
          </a:xfrm>
          <a:prstGeom prst="rect">
            <a:avLst/>
          </a:prstGeom>
        </p:spPr>
        <p:txBody>
          <a:bodyPr anchor="t" rtlCol="false" tIns="0" lIns="0" bIns="0" rIns="0">
            <a:spAutoFit/>
          </a:bodyPr>
          <a:lstStyle/>
          <a:p>
            <a:pPr algn="l">
              <a:lnSpc>
                <a:spcPts val="3149"/>
              </a:lnSpc>
            </a:pPr>
            <a:r>
              <a:rPr lang="en-US" sz="2250" b="true">
                <a:solidFill>
                  <a:srgbClr val="E8833A"/>
                </a:solidFill>
                <a:latin typeface="IBM Plex Sans Bold"/>
                <a:ea typeface="IBM Plex Sans Bold"/>
                <a:cs typeface="IBM Plex Sans Bold"/>
                <a:sym typeface="IBM Plex Sans Bold"/>
              </a:rPr>
              <a:t>github.com/steezym/image-captioning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DAHZSbG6X6A</dc:identifier>
  <dcterms:modified xsi:type="dcterms:W3CDTF">2011-08-01T06:04:30Z</dcterms:modified>
  <cp:revision>1</cp:revision>
  <dc:title>Image Captioning from Scratch - An Tech A Sync.pptx</dc:title>
</cp:coreProperties>
</file>